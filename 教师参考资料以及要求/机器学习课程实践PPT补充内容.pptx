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518" r:id="rId2"/>
    <p:sldId id="519" r:id="rId3"/>
    <p:sldId id="520" r:id="rId4"/>
    <p:sldId id="511" r:id="rId5"/>
    <p:sldId id="515" r:id="rId6"/>
    <p:sldId id="516" r:id="rId7"/>
    <p:sldId id="517" r:id="rId8"/>
    <p:sldId id="506" r:id="rId9"/>
    <p:sldId id="507" r:id="rId10"/>
    <p:sldId id="508" r:id="rId11"/>
    <p:sldId id="509" r:id="rId12"/>
    <p:sldId id="505" r:id="rId13"/>
    <p:sldId id="512" r:id="rId14"/>
    <p:sldId id="513" r:id="rId15"/>
  </p:sldIdLst>
  <p:sldSz cx="9145588" cy="6845300"/>
  <p:notesSz cx="6858000" cy="9144000"/>
  <p:defaultTextStyle>
    <a:defPPr>
      <a:defRPr lang="zh-CN"/>
    </a:defPPr>
    <a:lvl1pPr marL="0" algn="l" defTabSz="102202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1012" algn="l" defTabSz="102202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22025" algn="l" defTabSz="102202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33037" algn="l" defTabSz="102202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44050" algn="l" defTabSz="102202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55062" algn="l" defTabSz="102202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66075" algn="l" defTabSz="102202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77087" algn="l" defTabSz="102202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88100" algn="l" defTabSz="102202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56">
          <p15:clr>
            <a:srgbClr val="A4A3A4"/>
          </p15:clr>
        </p15:guide>
        <p15:guide id="4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zhi" initials="Junzhi" lastIdx="12" clrIdx="0">
    <p:extLst>
      <p:ext uri="{19B8F6BF-5375-455C-9EA6-DF929625EA0E}">
        <p15:presenceInfo xmlns:p15="http://schemas.microsoft.com/office/powerpoint/2012/main" userId="Junzhi" providerId="None"/>
      </p:ext>
    </p:extLst>
  </p:cmAuthor>
  <p:cmAuthor id="2" name="Junzhi Liu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6E0"/>
    <a:srgbClr val="5B9BD5"/>
    <a:srgbClr val="FFFFFF"/>
    <a:srgbClr val="FF9900"/>
    <a:srgbClr val="A9D18E"/>
    <a:srgbClr val="BEDCAB"/>
    <a:srgbClr val="C5E0B4"/>
    <a:srgbClr val="FCFCFC"/>
    <a:srgbClr val="0255A0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79815" autoAdjust="0"/>
  </p:normalViewPr>
  <p:slideViewPr>
    <p:cSldViewPr>
      <p:cViewPr varScale="1">
        <p:scale>
          <a:sx n="92" d="100"/>
          <a:sy n="92" d="100"/>
        </p:scale>
        <p:origin x="2274" y="84"/>
      </p:cViewPr>
      <p:guideLst>
        <p:guide orient="horz" pos="1800"/>
        <p:guide pos="2880"/>
        <p:guide orient="horz" pos="2156"/>
        <p:guide pos="2881"/>
      </p:guideLst>
    </p:cSldViewPr>
  </p:slideViewPr>
  <p:outlineViewPr>
    <p:cViewPr>
      <p:scale>
        <a:sx n="33" d="100"/>
        <a:sy n="33" d="100"/>
      </p:scale>
      <p:origin x="0" y="-86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60"/>
    </p:cViewPr>
  </p:sorterViewPr>
  <p:notesViewPr>
    <p:cSldViewPr>
      <p:cViewPr varScale="1">
        <p:scale>
          <a:sx n="57" d="100"/>
          <a:sy n="57" d="100"/>
        </p:scale>
        <p:origin x="2472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BA40E-5606-4029-863C-DF903B52E771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39825" y="685800"/>
            <a:ext cx="45783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C17DF-1D58-4647-8B50-01AC32906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50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220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11012" algn="l" defTabSz="10220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22025" algn="l" defTabSz="10220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33037" algn="l" defTabSz="10220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44050" algn="l" defTabSz="10220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55062" algn="l" defTabSz="10220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66075" algn="l" defTabSz="10220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77087" algn="l" defTabSz="10220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88100" algn="l" defTabSz="1022025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41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653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618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346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503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561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583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132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19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870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719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507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886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9825" y="685800"/>
            <a:ext cx="45783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C17DF-1D58-4647-8B50-01AC3290640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338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839" y="1783908"/>
            <a:ext cx="6401912" cy="384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10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22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3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44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55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66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77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88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70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" y="6388572"/>
            <a:ext cx="9145589" cy="456727"/>
          </a:xfrm>
          <a:prstGeom prst="rect">
            <a:avLst/>
          </a:prstGeom>
          <a:gradFill>
            <a:gsLst>
              <a:gs pos="80000">
                <a:srgbClr val="026DCE">
                  <a:alpha val="70000"/>
                </a:srgbClr>
              </a:gs>
              <a:gs pos="26000">
                <a:schemeClr val="tx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202" tIns="51101" rIns="102202" bIns="51101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/>
          <p:cNvSpPr/>
          <p:nvPr userDrawn="1"/>
        </p:nvSpPr>
        <p:spPr bwMode="auto">
          <a:xfrm>
            <a:off x="-1" y="-30421"/>
            <a:ext cx="9145589" cy="951834"/>
          </a:xfrm>
          <a:prstGeom prst="rect">
            <a:avLst/>
          </a:prstGeom>
          <a:gradFill flip="none" rotWithShape="1">
            <a:gsLst>
              <a:gs pos="21000">
                <a:schemeClr val="accent2">
                  <a:lumMod val="75000"/>
                  <a:lumOff val="25000"/>
                </a:schemeClr>
              </a:gs>
              <a:gs pos="86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202" tIns="51101" rIns="102202" bIns="51101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94178" y="145611"/>
            <a:ext cx="5833488" cy="775801"/>
          </a:xfrm>
        </p:spPr>
        <p:txBody>
          <a:bodyPr/>
          <a:lstStyle>
            <a:lvl1pPr algn="l">
              <a:defRPr sz="25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611666" y="1754762"/>
            <a:ext cx="7922256" cy="3844450"/>
          </a:xfrm>
        </p:spPr>
        <p:txBody>
          <a:bodyPr>
            <a:normAutofit/>
          </a:bodyPr>
          <a:lstStyle>
            <a:lvl1pPr marL="511012" indent="-511012" algn="l"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110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22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3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44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55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66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770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88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15523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" y="6388572"/>
            <a:ext cx="9145589" cy="456727"/>
          </a:xfrm>
          <a:prstGeom prst="rect">
            <a:avLst/>
          </a:prstGeom>
          <a:gradFill>
            <a:gsLst>
              <a:gs pos="80000">
                <a:srgbClr val="026DCE">
                  <a:alpha val="70000"/>
                </a:srgbClr>
              </a:gs>
              <a:gs pos="26000">
                <a:schemeClr val="tx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202" tIns="51101" rIns="102202" bIns="51101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/>
          <p:cNvSpPr/>
          <p:nvPr userDrawn="1"/>
        </p:nvSpPr>
        <p:spPr bwMode="auto">
          <a:xfrm>
            <a:off x="-1" y="-30421"/>
            <a:ext cx="9145589" cy="951834"/>
          </a:xfrm>
          <a:prstGeom prst="rect">
            <a:avLst/>
          </a:prstGeom>
          <a:gradFill flip="none" rotWithShape="1">
            <a:gsLst>
              <a:gs pos="21000">
                <a:schemeClr val="accent2">
                  <a:lumMod val="75000"/>
                  <a:lumOff val="25000"/>
                </a:schemeClr>
              </a:gs>
              <a:gs pos="86000">
                <a:schemeClr val="tx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202" tIns="51101" rIns="102202" bIns="51101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94178" y="145611"/>
            <a:ext cx="5833488" cy="775801"/>
          </a:xfrm>
        </p:spPr>
        <p:txBody>
          <a:bodyPr/>
          <a:lstStyle>
            <a:lvl1pPr algn="l">
              <a:defRPr sz="25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904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 bwMode="auto">
          <a:xfrm>
            <a:off x="1" y="6388572"/>
            <a:ext cx="9145589" cy="456727"/>
          </a:xfrm>
          <a:prstGeom prst="rect">
            <a:avLst/>
          </a:prstGeom>
          <a:gradFill>
            <a:gsLst>
              <a:gs pos="80000">
                <a:srgbClr val="026DCE">
                  <a:alpha val="70000"/>
                </a:srgbClr>
              </a:gs>
              <a:gs pos="26000">
                <a:schemeClr val="tx2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202" tIns="51101" rIns="102202" bIns="51101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灯片编号占位符 3"/>
          <p:cNvSpPr txBox="1">
            <a:spLocks/>
          </p:cNvSpPr>
          <p:nvPr userDrawn="1"/>
        </p:nvSpPr>
        <p:spPr>
          <a:xfrm>
            <a:off x="179545" y="6475276"/>
            <a:ext cx="1440113" cy="283320"/>
          </a:xfrm>
          <a:prstGeom prst="rect">
            <a:avLst/>
          </a:prstGeom>
        </p:spPr>
        <p:txBody>
          <a:bodyPr lIns="102202" tIns="51101" rIns="102202" bIns="51101"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 altLang="en-US" b="1" dirty="0">
                <a:solidFill>
                  <a:schemeClr val="bg1"/>
                </a:solidFill>
              </a:rPr>
              <a:t> </a:t>
            </a:r>
            <a:fld id="{7C5E4C7A-43C3-449A-8119-E420EB00870B}" type="slidenum">
              <a:rPr lang="zh-CN" altLang="en-US" b="1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灯片编号占位符 3"/>
          <p:cNvSpPr txBox="1">
            <a:spLocks/>
          </p:cNvSpPr>
          <p:nvPr userDrawn="1"/>
        </p:nvSpPr>
        <p:spPr>
          <a:xfrm>
            <a:off x="6975173" y="6454122"/>
            <a:ext cx="2422996" cy="283320"/>
          </a:xfrm>
          <a:prstGeom prst="rect">
            <a:avLst/>
          </a:prstGeom>
        </p:spPr>
        <p:txBody>
          <a:bodyPr lIns="102202" tIns="51101" rIns="102202" bIns="51101"/>
          <a:lstStyle>
            <a:defPPr>
              <a:defRPr lang="zh-CN"/>
            </a:defPPr>
            <a:lvl1pPr marL="0" algn="l" defTabSz="914400" rtl="0" eaLnBrk="1" latinLnBrk="0" hangingPunct="1">
              <a:defRPr sz="1200" i="0" kern="1200">
                <a:solidFill>
                  <a:schemeClr val="accent6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1300" b="1" dirty="0">
                <a:solidFill>
                  <a:schemeClr val="bg1"/>
                </a:solidFill>
              </a:rPr>
              <a:t>XXXXXXXXXXXXXXXXX</a:t>
            </a:r>
            <a:endParaRPr lang="en-US" sz="13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91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439" y="4398742"/>
            <a:ext cx="7773750" cy="1359553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439" y="2901331"/>
            <a:ext cx="7773750" cy="1497409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110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2202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330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4405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55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660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770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881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8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80" y="1597237"/>
            <a:ext cx="4039301" cy="4517582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008" y="1597237"/>
            <a:ext cx="4039301" cy="4517582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63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79" y="1532273"/>
            <a:ext cx="4040890" cy="63857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1012" indent="0">
              <a:buNone/>
              <a:defRPr sz="2200" b="1"/>
            </a:lvl2pPr>
            <a:lvl3pPr marL="1022025" indent="0">
              <a:buNone/>
              <a:defRPr sz="2000" b="1"/>
            </a:lvl3pPr>
            <a:lvl4pPr marL="1533037" indent="0">
              <a:buNone/>
              <a:defRPr sz="1800" b="1"/>
            </a:lvl4pPr>
            <a:lvl5pPr marL="2044050" indent="0">
              <a:buNone/>
              <a:defRPr sz="1800" b="1"/>
            </a:lvl5pPr>
            <a:lvl6pPr marL="2555062" indent="0">
              <a:buNone/>
              <a:defRPr sz="1800" b="1"/>
            </a:lvl6pPr>
            <a:lvl7pPr marL="3066075" indent="0">
              <a:buNone/>
              <a:defRPr sz="1800" b="1"/>
            </a:lvl7pPr>
            <a:lvl8pPr marL="3577087" indent="0">
              <a:buNone/>
              <a:defRPr sz="1800" b="1"/>
            </a:lvl8pPr>
            <a:lvl9pPr marL="40881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79" y="2170848"/>
            <a:ext cx="4040890" cy="3943971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834" y="1532273"/>
            <a:ext cx="4042477" cy="63857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1012" indent="0">
              <a:buNone/>
              <a:defRPr sz="2200" b="1"/>
            </a:lvl2pPr>
            <a:lvl3pPr marL="1022025" indent="0">
              <a:buNone/>
              <a:defRPr sz="2000" b="1"/>
            </a:lvl3pPr>
            <a:lvl4pPr marL="1533037" indent="0">
              <a:buNone/>
              <a:defRPr sz="1800" b="1"/>
            </a:lvl4pPr>
            <a:lvl5pPr marL="2044050" indent="0">
              <a:buNone/>
              <a:defRPr sz="1800" b="1"/>
            </a:lvl5pPr>
            <a:lvl6pPr marL="2555062" indent="0">
              <a:buNone/>
              <a:defRPr sz="1800" b="1"/>
            </a:lvl6pPr>
            <a:lvl7pPr marL="3066075" indent="0">
              <a:buNone/>
              <a:defRPr sz="1800" b="1"/>
            </a:lvl7pPr>
            <a:lvl8pPr marL="3577087" indent="0">
              <a:buNone/>
              <a:defRPr sz="1800" b="1"/>
            </a:lvl8pPr>
            <a:lvl9pPr marL="408810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834" y="2170848"/>
            <a:ext cx="4042477" cy="3943971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11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044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88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83" y="272547"/>
            <a:ext cx="3008835" cy="1159898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672" y="272545"/>
            <a:ext cx="5112638" cy="5842274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83" y="1432445"/>
            <a:ext cx="3008835" cy="4682376"/>
          </a:xfrm>
        </p:spPr>
        <p:txBody>
          <a:bodyPr/>
          <a:lstStyle>
            <a:lvl1pPr marL="0" indent="0">
              <a:buNone/>
              <a:defRPr sz="1600"/>
            </a:lvl1pPr>
            <a:lvl2pPr marL="511012" indent="0">
              <a:buNone/>
              <a:defRPr sz="1300"/>
            </a:lvl2pPr>
            <a:lvl3pPr marL="1022025" indent="0">
              <a:buNone/>
              <a:defRPr sz="1100"/>
            </a:lvl3pPr>
            <a:lvl4pPr marL="1533037" indent="0">
              <a:buNone/>
              <a:defRPr sz="1000"/>
            </a:lvl4pPr>
            <a:lvl5pPr marL="2044050" indent="0">
              <a:buNone/>
              <a:defRPr sz="1000"/>
            </a:lvl5pPr>
            <a:lvl6pPr marL="2555062" indent="0">
              <a:buNone/>
              <a:defRPr sz="1000"/>
            </a:lvl6pPr>
            <a:lvl7pPr marL="3066075" indent="0">
              <a:buNone/>
              <a:defRPr sz="1000"/>
            </a:lvl7pPr>
            <a:lvl8pPr marL="3577087" indent="0">
              <a:buNone/>
              <a:defRPr sz="1000"/>
            </a:lvl8pPr>
            <a:lvl9pPr marL="40881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04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600" y="4791710"/>
            <a:ext cx="5487353" cy="565689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600" y="611641"/>
            <a:ext cx="5487353" cy="4107180"/>
          </a:xfrm>
        </p:spPr>
        <p:txBody>
          <a:bodyPr/>
          <a:lstStyle>
            <a:lvl1pPr marL="0" indent="0">
              <a:buNone/>
              <a:defRPr sz="3600"/>
            </a:lvl1pPr>
            <a:lvl2pPr marL="511012" indent="0">
              <a:buNone/>
              <a:defRPr sz="3100"/>
            </a:lvl2pPr>
            <a:lvl3pPr marL="1022025" indent="0">
              <a:buNone/>
              <a:defRPr sz="2700"/>
            </a:lvl3pPr>
            <a:lvl4pPr marL="1533037" indent="0">
              <a:buNone/>
              <a:defRPr sz="2200"/>
            </a:lvl4pPr>
            <a:lvl5pPr marL="2044050" indent="0">
              <a:buNone/>
              <a:defRPr sz="2200"/>
            </a:lvl5pPr>
            <a:lvl6pPr marL="2555062" indent="0">
              <a:buNone/>
              <a:defRPr sz="2200"/>
            </a:lvl6pPr>
            <a:lvl7pPr marL="3066075" indent="0">
              <a:buNone/>
              <a:defRPr sz="2200"/>
            </a:lvl7pPr>
            <a:lvl8pPr marL="3577087" indent="0">
              <a:buNone/>
              <a:defRPr sz="2200"/>
            </a:lvl8pPr>
            <a:lvl9pPr marL="4088100" indent="0">
              <a:buNone/>
              <a:defRPr sz="22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600" y="5357399"/>
            <a:ext cx="5487353" cy="803371"/>
          </a:xfrm>
        </p:spPr>
        <p:txBody>
          <a:bodyPr/>
          <a:lstStyle>
            <a:lvl1pPr marL="0" indent="0">
              <a:buNone/>
              <a:defRPr sz="1600"/>
            </a:lvl1pPr>
            <a:lvl2pPr marL="511012" indent="0">
              <a:buNone/>
              <a:defRPr sz="1300"/>
            </a:lvl2pPr>
            <a:lvl3pPr marL="1022025" indent="0">
              <a:buNone/>
              <a:defRPr sz="1100"/>
            </a:lvl3pPr>
            <a:lvl4pPr marL="1533037" indent="0">
              <a:buNone/>
              <a:defRPr sz="1000"/>
            </a:lvl4pPr>
            <a:lvl5pPr marL="2044050" indent="0">
              <a:buNone/>
              <a:defRPr sz="1000"/>
            </a:lvl5pPr>
            <a:lvl6pPr marL="2555062" indent="0">
              <a:buNone/>
              <a:defRPr sz="1000"/>
            </a:lvl6pPr>
            <a:lvl7pPr marL="3066075" indent="0">
              <a:buNone/>
              <a:defRPr sz="1000"/>
            </a:lvl7pPr>
            <a:lvl8pPr marL="3577087" indent="0">
              <a:buNone/>
              <a:defRPr sz="1000"/>
            </a:lvl8pPr>
            <a:lvl9pPr marL="40881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92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689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0552" y="274131"/>
            <a:ext cx="2057757" cy="584068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79" y="274131"/>
            <a:ext cx="6020846" cy="58406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61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81" y="274129"/>
            <a:ext cx="8231029" cy="1140884"/>
          </a:xfrm>
          <a:prstGeom prst="rect">
            <a:avLst/>
          </a:prstGeom>
        </p:spPr>
        <p:txBody>
          <a:bodyPr vert="horz" lIns="102202" tIns="51101" rIns="102202" bIns="51101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81" y="1597237"/>
            <a:ext cx="8231029" cy="4517582"/>
          </a:xfrm>
          <a:prstGeom prst="rect">
            <a:avLst/>
          </a:prstGeom>
        </p:spPr>
        <p:txBody>
          <a:bodyPr vert="horz" lIns="102202" tIns="51101" rIns="102202" bIns="51101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80" y="6344581"/>
            <a:ext cx="2133970" cy="364449"/>
          </a:xfrm>
          <a:prstGeom prst="rect">
            <a:avLst/>
          </a:prstGeom>
        </p:spPr>
        <p:txBody>
          <a:bodyPr vert="horz" lIns="102202" tIns="51101" rIns="102202" bIns="51101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384C6-77FA-4AF6-AF10-492DE6DC1E29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744" y="6344581"/>
            <a:ext cx="2896103" cy="364449"/>
          </a:xfrm>
          <a:prstGeom prst="rect">
            <a:avLst/>
          </a:prstGeom>
        </p:spPr>
        <p:txBody>
          <a:bodyPr vert="horz" lIns="102202" tIns="51101" rIns="102202" bIns="51101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4338" y="6344581"/>
            <a:ext cx="2133970" cy="364449"/>
          </a:xfrm>
          <a:prstGeom prst="rect">
            <a:avLst/>
          </a:prstGeom>
        </p:spPr>
        <p:txBody>
          <a:bodyPr vert="horz" lIns="102202" tIns="51101" rIns="102202" bIns="51101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218CE-149D-49E3-8033-D5CD97556C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18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ctr" defTabSz="1022025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3259" indent="-383259" algn="l" defTabSz="1022025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0395" indent="-319383" algn="l" defTabSz="1022025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7531" indent="-255506" algn="l" defTabSz="102202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8544" indent="-255506" algn="l" defTabSz="1022025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99556" indent="-255506" algn="l" defTabSz="1022025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10568" indent="-255506" algn="l" defTabSz="1022025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21581" indent="-255506" algn="l" defTabSz="1022025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32593" indent="-255506" algn="l" defTabSz="1022025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43606" indent="-255506" algn="l" defTabSz="1022025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20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012" algn="l" defTabSz="10220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025" algn="l" defTabSz="10220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3037" algn="l" defTabSz="10220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4050" algn="l" defTabSz="10220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5062" algn="l" defTabSz="10220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66075" algn="l" defTabSz="10220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77087" algn="l" defTabSz="10220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88100" algn="l" defTabSz="10220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image" Target="../media/image12.e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11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11" Type="http://schemas.openxmlformats.org/officeDocument/2006/relationships/image" Target="../media/image10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9.emf"/><Relationship Id="rId4" Type="http://schemas.openxmlformats.org/officeDocument/2006/relationships/image" Target="../media/image15.png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305724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相关系数</a:t>
            </a:r>
            <a:r>
              <a:rPr lang="zh-CN" altLang="en-US" sz="32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-133899" y="902370"/>
            <a:ext cx="92540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dirty="0" smtClean="0"/>
              <a:t>相关</a:t>
            </a:r>
            <a:r>
              <a:rPr lang="zh-CN" altLang="en-US" dirty="0"/>
              <a:t>系数</a:t>
            </a:r>
            <a:r>
              <a:rPr lang="zh-CN" altLang="en-US" dirty="0" smtClean="0"/>
              <a:t>是</a:t>
            </a:r>
            <a:r>
              <a:rPr lang="zh-CN" altLang="en-US" dirty="0"/>
              <a:t>指序列之间的</a:t>
            </a:r>
            <a:r>
              <a:rPr lang="zh-CN" altLang="en-US" dirty="0" smtClean="0"/>
              <a:t>相关系数。</a:t>
            </a:r>
            <a:endParaRPr lang="en-US" altLang="zh-CN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dirty="0" smtClean="0"/>
              <a:t>以原始径流序列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降雨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序列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i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i="1" baseline="-25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的相关系数计算为例</a:t>
            </a:r>
            <a:r>
              <a:rPr lang="zh-CN" altLang="en-US" dirty="0" smtClean="0"/>
              <a:t>。</a:t>
            </a:r>
            <a:endParaRPr lang="zh-CN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4" y="2270522"/>
            <a:ext cx="9145588" cy="36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59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305724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相关系数</a:t>
            </a:r>
            <a:r>
              <a:rPr lang="zh-CN" altLang="en-US" sz="32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913" y="1046386"/>
            <a:ext cx="6201137" cy="519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317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305724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相关系数</a:t>
            </a:r>
            <a:r>
              <a:rPr lang="zh-CN" altLang="en-US" sz="32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2" y="2558554"/>
            <a:ext cx="8068498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5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305724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相关系数</a:t>
            </a:r>
            <a:r>
              <a:rPr lang="zh-CN" altLang="en-US" sz="32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-133899" y="902370"/>
            <a:ext cx="92540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dirty="0" smtClean="0"/>
              <a:t>相关系数是</a:t>
            </a:r>
            <a:r>
              <a:rPr lang="zh-CN" altLang="en-US" dirty="0"/>
              <a:t>指序列之间的</a:t>
            </a:r>
            <a:r>
              <a:rPr lang="zh-CN" altLang="en-US" dirty="0" smtClean="0"/>
              <a:t>相关系数。</a:t>
            </a:r>
            <a:endParaRPr lang="en-US" altLang="zh-CN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dirty="0" smtClean="0"/>
              <a:t>以原始径流序列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与滞后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天的径流序列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t-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的相关系数计算为例</a:t>
            </a:r>
            <a:r>
              <a:rPr lang="zh-CN" altLang="en-US" dirty="0" smtClean="0"/>
              <a:t>。</a:t>
            </a:r>
            <a:endParaRPr lang="zh-CN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0" y="2198514"/>
            <a:ext cx="9145588" cy="286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96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305724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相关系数的计算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" y="2356679"/>
            <a:ext cx="9145588" cy="32395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-133899" y="902370"/>
            <a:ext cx="92540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dirty="0" smtClean="0"/>
              <a:t>相关系数是</a:t>
            </a:r>
            <a:r>
              <a:rPr lang="zh-CN" altLang="en-US" dirty="0"/>
              <a:t>指序列之间的</a:t>
            </a:r>
            <a:r>
              <a:rPr lang="zh-CN" altLang="en-US" dirty="0" smtClean="0"/>
              <a:t>相关系数。</a:t>
            </a:r>
            <a:endParaRPr lang="en-US" altLang="zh-CN" dirty="0"/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dirty="0" smtClean="0"/>
              <a:t>以原始径流序列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与滞后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天的径流序列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t-</a:t>
            </a:r>
            <a:r>
              <a:rPr lang="en-US" altLang="zh-CN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的相关系数计算为例</a:t>
            </a:r>
            <a:r>
              <a:rPr lang="zh-CN" altLang="en-US" dirty="0" smtClean="0"/>
              <a:t>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18626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305724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相关系数的计算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33" y="1211889"/>
            <a:ext cx="7742857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4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305724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相关系数的计算</a:t>
            </a:r>
            <a:endParaRPr lang="zh-CN" altLang="en-US" sz="32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24" y="2054498"/>
            <a:ext cx="8568952" cy="184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3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80306" y="830362"/>
            <a:ext cx="91219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/>
              <a:t>多步递归预测方式下的特征选择（以神经网络为例）</a:t>
            </a:r>
            <a:r>
              <a:rPr lang="zh-CN" altLang="zh-CN" sz="2800" dirty="0"/>
              <a:t>：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52314" y="2366337"/>
            <a:ext cx="2643718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t-s,…,t-2,t-1,t</a:t>
            </a:r>
            <a:r>
              <a:rPr lang="zh-CN" altLang="en-US" sz="1600" dirty="0"/>
              <a:t>天的径流；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t-m,…,</a:t>
            </a:r>
            <a:r>
              <a:rPr lang="en-US" altLang="zh-CN" sz="1600" dirty="0" smtClean="0"/>
              <a:t>t-2,t-1,t</a:t>
            </a:r>
            <a:r>
              <a:rPr lang="zh-CN" altLang="en-US" sz="1600" dirty="0" smtClean="0"/>
              <a:t>天</a:t>
            </a:r>
            <a:r>
              <a:rPr lang="zh-CN" altLang="en-US" sz="1600" dirty="0"/>
              <a:t>的降水；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t-p,…,</a:t>
            </a:r>
            <a:r>
              <a:rPr lang="en-US" altLang="zh-CN" sz="1600" dirty="0" smtClean="0"/>
              <a:t>t-2,t-1,t</a:t>
            </a:r>
            <a:r>
              <a:rPr lang="zh-CN" altLang="en-US" sz="1600" dirty="0" smtClean="0"/>
              <a:t>天</a:t>
            </a:r>
            <a:r>
              <a:rPr lang="zh-CN" altLang="en-US" sz="1600" dirty="0"/>
              <a:t>的气温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445143" y="2670536"/>
            <a:ext cx="2654152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 </a:t>
            </a:r>
            <a:r>
              <a:rPr lang="zh-CN" altLang="en-US" sz="1600" dirty="0"/>
              <a:t>第</a:t>
            </a:r>
            <a:r>
              <a:rPr lang="en-US" altLang="zh-CN" sz="1600" dirty="0"/>
              <a:t>t+1</a:t>
            </a:r>
            <a:r>
              <a:rPr lang="zh-CN" altLang="en-US" sz="1600" dirty="0"/>
              <a:t>天的径流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2065" y="3899594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输入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881694" y="3820696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输出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613614" y="2272556"/>
            <a:ext cx="2160240" cy="12961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人工神经网络</a:t>
            </a:r>
          </a:p>
        </p:txBody>
      </p:sp>
      <p:sp>
        <p:nvSpPr>
          <p:cNvPr id="5" name="右箭头 4"/>
          <p:cNvSpPr/>
          <p:nvPr/>
        </p:nvSpPr>
        <p:spPr>
          <a:xfrm>
            <a:off x="2988618" y="2814648"/>
            <a:ext cx="624996" cy="38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820147" y="2752026"/>
            <a:ext cx="624996" cy="38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80306" y="4459272"/>
            <a:ext cx="7223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模型以及模型的输出均只有</a:t>
            </a:r>
            <a:r>
              <a:rPr lang="en-US" altLang="zh-CN" dirty="0"/>
              <a:t>1</a:t>
            </a:r>
            <a:r>
              <a:rPr lang="zh-CN" altLang="en-US" dirty="0"/>
              <a:t>个，直接为该</a:t>
            </a:r>
            <a:r>
              <a:rPr lang="zh-CN" altLang="en-US" dirty="0" smtClean="0"/>
              <a:t>输出</a:t>
            </a:r>
            <a:r>
              <a:rPr lang="zh-CN" altLang="en-US" dirty="0"/>
              <a:t>选择</a:t>
            </a:r>
            <a:r>
              <a:rPr lang="zh-CN" altLang="en-US" dirty="0" smtClean="0"/>
              <a:t>特征</a:t>
            </a:r>
            <a:r>
              <a:rPr lang="zh-CN" altLang="en-US" dirty="0"/>
              <a:t>即可。</a:t>
            </a: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5929828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不同多步预测策略下的特征选择</a:t>
            </a:r>
          </a:p>
        </p:txBody>
      </p:sp>
    </p:spTree>
    <p:extLst>
      <p:ext uri="{BB962C8B-B14F-4D97-AF65-F5344CB8AC3E}">
        <p14:creationId xmlns:p14="http://schemas.microsoft.com/office/powerpoint/2010/main" val="134258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80306" y="830362"/>
            <a:ext cx="91219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多步直接</a:t>
            </a:r>
            <a:r>
              <a:rPr lang="zh-CN" altLang="en-US" sz="2800" dirty="0"/>
              <a:t>预测方式下的特征选择（以神经网络为例）</a:t>
            </a:r>
            <a:r>
              <a:rPr lang="zh-CN" altLang="zh-CN" sz="2800" dirty="0"/>
              <a:t>：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52314" y="2763654"/>
            <a:ext cx="2643718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t-s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,…,t-2,t-1,t</a:t>
            </a:r>
            <a:r>
              <a:rPr lang="zh-CN" altLang="en-US" sz="1600" dirty="0"/>
              <a:t>天的径流；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t-m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,…,</a:t>
            </a:r>
            <a:r>
              <a:rPr lang="en-US" altLang="zh-CN" sz="1600" dirty="0" smtClean="0"/>
              <a:t>t-2,t-1,t</a:t>
            </a:r>
            <a:r>
              <a:rPr lang="zh-CN" altLang="en-US" sz="1600" dirty="0" smtClean="0"/>
              <a:t>天</a:t>
            </a:r>
            <a:r>
              <a:rPr lang="zh-CN" altLang="en-US" sz="1600" dirty="0"/>
              <a:t>的降水；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t-p</a:t>
            </a:r>
            <a:r>
              <a:rPr lang="en-US" altLang="zh-CN" sz="1600" baseline="-25000" dirty="0"/>
              <a:t>1</a:t>
            </a:r>
            <a:r>
              <a:rPr lang="en-US" altLang="zh-CN" sz="1600" dirty="0"/>
              <a:t>,…,</a:t>
            </a:r>
            <a:r>
              <a:rPr lang="en-US" altLang="zh-CN" sz="1600" dirty="0" smtClean="0"/>
              <a:t>t-2,t-1,t</a:t>
            </a:r>
            <a:r>
              <a:rPr lang="zh-CN" altLang="en-US" sz="1600" dirty="0" smtClean="0"/>
              <a:t>天</a:t>
            </a:r>
            <a:r>
              <a:rPr lang="zh-CN" altLang="en-US" sz="1600" dirty="0"/>
              <a:t>的气温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445143" y="3161634"/>
            <a:ext cx="2654152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 </a:t>
            </a:r>
            <a:r>
              <a:rPr lang="zh-CN" altLang="en-US" sz="1600" dirty="0"/>
              <a:t>第</a:t>
            </a:r>
            <a:r>
              <a:rPr lang="en-US" altLang="zh-CN" sz="1600" dirty="0"/>
              <a:t>t+1</a:t>
            </a:r>
            <a:r>
              <a:rPr lang="zh-CN" altLang="en-US" sz="1600" dirty="0"/>
              <a:t>天的径流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2065" y="4390692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输入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881694" y="4311794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输出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613614" y="2763654"/>
            <a:ext cx="2160240" cy="12961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人工神经网络</a:t>
            </a:r>
          </a:p>
        </p:txBody>
      </p:sp>
      <p:sp>
        <p:nvSpPr>
          <p:cNvPr id="5" name="右箭头 4"/>
          <p:cNvSpPr/>
          <p:nvPr/>
        </p:nvSpPr>
        <p:spPr>
          <a:xfrm>
            <a:off x="2988618" y="3305746"/>
            <a:ext cx="624996" cy="38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820147" y="3243124"/>
            <a:ext cx="624996" cy="38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5929828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不同多步预测策略下的特征选择</a:t>
            </a:r>
          </a:p>
        </p:txBody>
      </p:sp>
    </p:spTree>
    <p:extLst>
      <p:ext uri="{BB962C8B-B14F-4D97-AF65-F5344CB8AC3E}">
        <p14:creationId xmlns:p14="http://schemas.microsoft.com/office/powerpoint/2010/main" val="292765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80306" y="830362"/>
            <a:ext cx="9145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多步直接</a:t>
            </a:r>
            <a:r>
              <a:rPr lang="zh-CN" altLang="en-US" sz="2800" dirty="0"/>
              <a:t>预测方式下的特征选择（以神经网络为例）</a:t>
            </a:r>
            <a:r>
              <a:rPr lang="zh-CN" altLang="zh-CN" sz="2800" dirty="0"/>
              <a:t>：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12613" y="2341948"/>
            <a:ext cx="2643718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t-s</a:t>
            </a:r>
            <a:r>
              <a:rPr lang="en-US" altLang="zh-CN" sz="1600" baseline="-25000" dirty="0"/>
              <a:t>2</a:t>
            </a:r>
            <a:r>
              <a:rPr lang="en-US" altLang="zh-CN" sz="1600" dirty="0"/>
              <a:t>,…,t-2,t-1,t</a:t>
            </a:r>
            <a:r>
              <a:rPr lang="zh-CN" altLang="en-US" sz="1600" dirty="0"/>
              <a:t>天的径流；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t-m</a:t>
            </a:r>
            <a:r>
              <a:rPr lang="en-US" altLang="zh-CN" sz="1600" baseline="-25000" dirty="0"/>
              <a:t>2</a:t>
            </a:r>
            <a:r>
              <a:rPr lang="en-US" altLang="zh-CN" sz="1600" dirty="0"/>
              <a:t>,…,</a:t>
            </a:r>
            <a:r>
              <a:rPr lang="en-US" altLang="zh-CN" sz="1600" dirty="0" smtClean="0"/>
              <a:t>t-2,t-1,t</a:t>
            </a:r>
            <a:r>
              <a:rPr lang="zh-CN" altLang="en-US" sz="1600" dirty="0" smtClean="0"/>
              <a:t>天</a:t>
            </a:r>
            <a:r>
              <a:rPr lang="zh-CN" altLang="en-US" sz="1600" dirty="0"/>
              <a:t>的降水；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t-p</a:t>
            </a:r>
            <a:r>
              <a:rPr lang="en-US" altLang="zh-CN" sz="1600" baseline="-25000" dirty="0"/>
              <a:t>2</a:t>
            </a:r>
            <a:r>
              <a:rPr lang="en-US" altLang="zh-CN" sz="1600" dirty="0"/>
              <a:t>,…,</a:t>
            </a:r>
            <a:r>
              <a:rPr lang="en-US" altLang="zh-CN" sz="1600" dirty="0" smtClean="0"/>
              <a:t>t-2,t-1,t</a:t>
            </a:r>
            <a:r>
              <a:rPr lang="zh-CN" altLang="en-US" sz="1600" dirty="0" smtClean="0"/>
              <a:t>天</a:t>
            </a:r>
            <a:r>
              <a:rPr lang="zh-CN" altLang="en-US" sz="1600" dirty="0"/>
              <a:t>的气温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445143" y="2670536"/>
            <a:ext cx="2654152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 </a:t>
            </a:r>
            <a:r>
              <a:rPr lang="zh-CN" altLang="en-US" sz="1600" dirty="0"/>
              <a:t>第</a:t>
            </a:r>
            <a:r>
              <a:rPr lang="en-US" altLang="zh-CN" sz="1600" dirty="0"/>
              <a:t>t+2</a:t>
            </a:r>
            <a:r>
              <a:rPr lang="zh-CN" altLang="en-US" sz="1600" dirty="0"/>
              <a:t>天的径流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2065" y="3899594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输入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881694" y="3820696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输出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613614" y="2272556"/>
            <a:ext cx="2160240" cy="12961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人工神经网络</a:t>
            </a:r>
          </a:p>
        </p:txBody>
      </p:sp>
      <p:sp>
        <p:nvSpPr>
          <p:cNvPr id="5" name="右箭头 4"/>
          <p:cNvSpPr/>
          <p:nvPr/>
        </p:nvSpPr>
        <p:spPr>
          <a:xfrm>
            <a:off x="2988618" y="2814648"/>
            <a:ext cx="624996" cy="38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820147" y="2752026"/>
            <a:ext cx="624996" cy="38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5929828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不同多步预测策略下的特征选择</a:t>
            </a:r>
          </a:p>
        </p:txBody>
      </p:sp>
    </p:spTree>
    <p:extLst>
      <p:ext uri="{BB962C8B-B14F-4D97-AF65-F5344CB8AC3E}">
        <p14:creationId xmlns:p14="http://schemas.microsoft.com/office/powerpoint/2010/main" val="292383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80306" y="2366391"/>
            <a:ext cx="2643718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</a:t>
            </a:r>
            <a:r>
              <a:rPr lang="en-US" altLang="zh-CN" sz="1600" dirty="0" err="1"/>
              <a:t>s</a:t>
            </a:r>
            <a:r>
              <a:rPr lang="en-US" altLang="zh-CN" sz="1600" baseline="-25000" dirty="0" err="1"/>
              <a:t>n</a:t>
            </a:r>
            <a:r>
              <a:rPr lang="en-US" altLang="zh-CN" sz="1600" dirty="0"/>
              <a:t>,…,t-2,t-1,t</a:t>
            </a:r>
            <a:r>
              <a:rPr lang="zh-CN" altLang="en-US" sz="1600" dirty="0"/>
              <a:t>天的径流；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</a:t>
            </a:r>
            <a:r>
              <a:rPr lang="en-US" altLang="zh-CN" sz="1600" dirty="0" err="1"/>
              <a:t>m</a:t>
            </a:r>
            <a:r>
              <a:rPr lang="en-US" altLang="zh-CN" sz="1600" baseline="-25000" dirty="0" err="1"/>
              <a:t>n</a:t>
            </a:r>
            <a:r>
              <a:rPr lang="en-US" altLang="zh-CN" sz="1600" dirty="0"/>
              <a:t>,…,</a:t>
            </a:r>
            <a:r>
              <a:rPr lang="en-US" altLang="zh-CN" sz="1600" dirty="0" smtClean="0"/>
              <a:t>t-2,t-1,t</a:t>
            </a:r>
            <a:r>
              <a:rPr lang="zh-CN" altLang="en-US" sz="1600" dirty="0" smtClean="0"/>
              <a:t>天</a:t>
            </a:r>
            <a:r>
              <a:rPr lang="zh-CN" altLang="en-US" sz="1600" dirty="0"/>
              <a:t>的降水；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</a:t>
            </a:r>
            <a:r>
              <a:rPr lang="en-US" altLang="zh-CN" sz="1600" dirty="0" err="1"/>
              <a:t>p</a:t>
            </a:r>
            <a:r>
              <a:rPr lang="en-US" altLang="zh-CN" sz="1600" baseline="-25000" dirty="0" err="1"/>
              <a:t>n</a:t>
            </a:r>
            <a:r>
              <a:rPr lang="en-US" altLang="zh-CN" sz="1600" dirty="0"/>
              <a:t>,…,</a:t>
            </a:r>
            <a:r>
              <a:rPr lang="en-US" altLang="zh-CN" sz="1600" dirty="0" smtClean="0"/>
              <a:t>t-2,t-1,t</a:t>
            </a:r>
            <a:r>
              <a:rPr lang="zh-CN" altLang="en-US" sz="1600" dirty="0" smtClean="0"/>
              <a:t>天</a:t>
            </a:r>
            <a:r>
              <a:rPr lang="zh-CN" altLang="en-US" sz="1600" dirty="0"/>
              <a:t>的气温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445143" y="2670536"/>
            <a:ext cx="2654152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 </a:t>
            </a:r>
            <a:r>
              <a:rPr lang="zh-CN" altLang="en-US" sz="1600" dirty="0"/>
              <a:t>第</a:t>
            </a:r>
            <a:r>
              <a:rPr lang="en-US" altLang="zh-CN" sz="1600" dirty="0" err="1"/>
              <a:t>t+n</a:t>
            </a:r>
            <a:r>
              <a:rPr lang="zh-CN" altLang="en-US" sz="1600" dirty="0"/>
              <a:t>天的径流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2065" y="3899594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输入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881694" y="3820696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输出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613614" y="2272556"/>
            <a:ext cx="2160240" cy="12961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人工神经网络</a:t>
            </a:r>
          </a:p>
        </p:txBody>
      </p:sp>
      <p:sp>
        <p:nvSpPr>
          <p:cNvPr id="5" name="右箭头 4"/>
          <p:cNvSpPr/>
          <p:nvPr/>
        </p:nvSpPr>
        <p:spPr>
          <a:xfrm>
            <a:off x="2988618" y="2814648"/>
            <a:ext cx="624996" cy="38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820147" y="2752026"/>
            <a:ext cx="624996" cy="38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80306" y="830362"/>
            <a:ext cx="9145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多步直接</a:t>
            </a:r>
            <a:r>
              <a:rPr lang="zh-CN" altLang="en-US" sz="2800" dirty="0"/>
              <a:t>预测方式下的特征选择（以神经网络为例）</a:t>
            </a:r>
            <a:r>
              <a:rPr lang="zh-CN" altLang="zh-CN" sz="2800" dirty="0"/>
              <a:t>：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80306" y="4459272"/>
            <a:ext cx="72238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模型有多个，每个模型有一个输出。</a:t>
            </a:r>
            <a:endParaRPr lang="en-US" altLang="zh-CN" dirty="0"/>
          </a:p>
          <a:p>
            <a:r>
              <a:rPr lang="zh-CN" altLang="en-US" dirty="0"/>
              <a:t>可以针对每个模型的输出，单独进行特征选择。</a:t>
            </a:r>
          </a:p>
        </p:txBody>
      </p:sp>
      <p:sp>
        <p:nvSpPr>
          <p:cNvPr id="15" name="TextBox 9"/>
          <p:cNvSpPr txBox="1">
            <a:spLocks noChangeArrowheads="1"/>
          </p:cNvSpPr>
          <p:nvPr/>
        </p:nvSpPr>
        <p:spPr bwMode="auto">
          <a:xfrm>
            <a:off x="36290" y="182290"/>
            <a:ext cx="5929828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不同多步预测策略下的特征选择</a:t>
            </a:r>
          </a:p>
        </p:txBody>
      </p:sp>
    </p:spTree>
    <p:extLst>
      <p:ext uri="{BB962C8B-B14F-4D97-AF65-F5344CB8AC3E}">
        <p14:creationId xmlns:p14="http://schemas.microsoft.com/office/powerpoint/2010/main" val="393683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80306" y="830362"/>
            <a:ext cx="861067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多输出</a:t>
            </a:r>
            <a:r>
              <a:rPr lang="zh-CN" altLang="en-US" sz="2800" dirty="0"/>
              <a:t>预测方式下的特征选择（以神经网络为例）</a:t>
            </a:r>
            <a:r>
              <a:rPr lang="zh-CN" altLang="zh-CN" sz="2800" dirty="0"/>
              <a:t>：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52314" y="2032431"/>
            <a:ext cx="2643718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t-s,…,t-2,t-1,t</a:t>
            </a:r>
            <a:r>
              <a:rPr lang="zh-CN" altLang="en-US" sz="1600" dirty="0"/>
              <a:t>天的径流；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t-m,…,</a:t>
            </a:r>
            <a:r>
              <a:rPr lang="en-US" altLang="zh-CN" sz="1600" dirty="0" smtClean="0"/>
              <a:t>t-2,t-1,t</a:t>
            </a:r>
            <a:r>
              <a:rPr lang="zh-CN" altLang="en-US" sz="1600" dirty="0" smtClean="0"/>
              <a:t>天</a:t>
            </a:r>
            <a:r>
              <a:rPr lang="zh-CN" altLang="en-US" sz="1600" dirty="0"/>
              <a:t>的降水；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第</a:t>
            </a:r>
            <a:r>
              <a:rPr lang="en-US" altLang="zh-CN" sz="1600" dirty="0"/>
              <a:t>t-p,…,</a:t>
            </a:r>
            <a:r>
              <a:rPr lang="en-US" altLang="zh-CN" sz="1600" dirty="0" smtClean="0"/>
              <a:t>t-2,t-1,t</a:t>
            </a:r>
            <a:r>
              <a:rPr lang="zh-CN" altLang="en-US" sz="1600" dirty="0" smtClean="0"/>
              <a:t>天</a:t>
            </a:r>
            <a:r>
              <a:rPr lang="zh-CN" altLang="en-US" sz="1600" dirty="0"/>
              <a:t>的气温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445143" y="2382504"/>
            <a:ext cx="2654152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 </a:t>
            </a:r>
            <a:r>
              <a:rPr lang="zh-CN" altLang="en-US" sz="1600" dirty="0"/>
              <a:t>第</a:t>
            </a:r>
            <a:r>
              <a:rPr lang="en-US" altLang="zh-CN" sz="1600" dirty="0"/>
              <a:t>t+1,t+2,…,</a:t>
            </a:r>
            <a:r>
              <a:rPr lang="en-US" altLang="zh-CN" sz="1600" dirty="0" err="1"/>
              <a:t>t+n</a:t>
            </a:r>
            <a:r>
              <a:rPr lang="zh-CN" altLang="en-US" sz="1600" dirty="0"/>
              <a:t>天的径流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2065" y="3422650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输入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846767" y="2911107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输出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3613614" y="1984524"/>
            <a:ext cx="2160240" cy="129614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人工神经网络</a:t>
            </a:r>
          </a:p>
        </p:txBody>
      </p:sp>
      <p:sp>
        <p:nvSpPr>
          <p:cNvPr id="5" name="右箭头 4"/>
          <p:cNvSpPr/>
          <p:nvPr/>
        </p:nvSpPr>
        <p:spPr>
          <a:xfrm>
            <a:off x="2988618" y="2526616"/>
            <a:ext cx="624996" cy="38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5820147" y="2463994"/>
            <a:ext cx="624996" cy="38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5222" y="4272230"/>
            <a:ext cx="92170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模型仅有一个，但是输出有多个，如何进行特征选择呢？可能的方法如下：</a:t>
            </a:r>
            <a:endParaRPr lang="en-US" altLang="zh-CN" sz="1800" dirty="0"/>
          </a:p>
          <a:p>
            <a:r>
              <a:rPr lang="zh-CN" altLang="en-US" sz="1800" dirty="0"/>
              <a:t>（</a:t>
            </a:r>
            <a:r>
              <a:rPr lang="en-US" altLang="zh-CN" sz="1800" dirty="0"/>
              <a:t>1</a:t>
            </a:r>
            <a:r>
              <a:rPr lang="zh-CN" altLang="en-US" sz="1800" dirty="0"/>
              <a:t>）针对每个输出，分别选择特征，然后将不同输出对应的特征求交集，将交集作为模型特征。</a:t>
            </a:r>
            <a:endParaRPr lang="en-US" altLang="zh-CN" sz="1800" dirty="0"/>
          </a:p>
          <a:p>
            <a:r>
              <a:rPr lang="zh-CN" altLang="en-US" sz="1800" dirty="0"/>
              <a:t>（</a:t>
            </a:r>
            <a:r>
              <a:rPr lang="en-US" altLang="zh-CN" sz="1800" dirty="0"/>
              <a:t>2</a:t>
            </a:r>
            <a:r>
              <a:rPr lang="zh-CN" altLang="en-US" sz="1800" dirty="0"/>
              <a:t>）针对每个输出，分别选择特征，然后将不同输出对应的特征求并集，将并集作为模型特征。</a:t>
            </a:r>
            <a:endParaRPr lang="en-US" altLang="zh-CN" sz="1800" dirty="0"/>
          </a:p>
          <a:p>
            <a:r>
              <a:rPr lang="zh-CN" altLang="en-US" sz="1800" dirty="0"/>
              <a:t>（</a:t>
            </a:r>
            <a:r>
              <a:rPr lang="en-US" altLang="zh-CN" sz="1800" dirty="0"/>
              <a:t>3</a:t>
            </a:r>
            <a:r>
              <a:rPr lang="zh-CN" altLang="en-US" sz="1800" dirty="0"/>
              <a:t>）</a:t>
            </a:r>
            <a:r>
              <a:rPr lang="zh-CN" altLang="en-US" sz="1800" dirty="0">
                <a:solidFill>
                  <a:srgbClr val="FF0000"/>
                </a:solidFill>
              </a:rPr>
              <a:t>仅针对某个输出选择特征，其他输出共用选择特征</a:t>
            </a:r>
            <a:r>
              <a:rPr lang="zh-CN" altLang="en-US" sz="1800" dirty="0" smtClean="0">
                <a:solidFill>
                  <a:srgbClr val="FF0000"/>
                </a:solidFill>
              </a:rPr>
              <a:t>。</a:t>
            </a:r>
            <a:r>
              <a:rPr lang="zh-CN" altLang="en-US" sz="1800" dirty="0" smtClean="0">
                <a:solidFill>
                  <a:srgbClr val="FF0000"/>
                </a:solidFill>
              </a:rPr>
              <a:t>简单起见，</a:t>
            </a:r>
            <a:r>
              <a:rPr lang="zh-CN" altLang="en-US" sz="1800" dirty="0" smtClean="0">
                <a:solidFill>
                  <a:srgbClr val="FF0000"/>
                </a:solidFill>
              </a:rPr>
              <a:t>选取</a:t>
            </a:r>
            <a:r>
              <a:rPr lang="zh-CN" altLang="en-US" sz="1800" dirty="0">
                <a:solidFill>
                  <a:srgbClr val="FF0000"/>
                </a:solidFill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</a:rPr>
              <a:t>t+1</a:t>
            </a:r>
            <a:r>
              <a:rPr lang="zh-CN" altLang="en-US" sz="1800" dirty="0">
                <a:solidFill>
                  <a:srgbClr val="FF0000"/>
                </a:solidFill>
              </a:rPr>
              <a:t>天的径流对应的特征，作为模型特征。</a:t>
            </a: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36290" y="182290"/>
            <a:ext cx="5929828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不同多步预测策略下的特征选择</a:t>
            </a:r>
          </a:p>
        </p:txBody>
      </p:sp>
    </p:spTree>
    <p:extLst>
      <p:ext uri="{BB962C8B-B14F-4D97-AF65-F5344CB8AC3E}">
        <p14:creationId xmlns:p14="http://schemas.microsoft.com/office/powerpoint/2010/main" val="194509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9"/>
          <p:cNvSpPr txBox="1">
            <a:spLocks noChangeArrowheads="1"/>
          </p:cNvSpPr>
          <p:nvPr/>
        </p:nvSpPr>
        <p:spPr bwMode="auto">
          <a:xfrm>
            <a:off x="36290" y="182290"/>
            <a:ext cx="634019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预测</a:t>
            </a:r>
            <a:r>
              <a:rPr lang="zh-CN" altLang="en-US" sz="32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未来几天的</a:t>
            </a: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径流是什么意思？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0306" y="949673"/>
            <a:ext cx="7848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我们假设利用第</a:t>
            </a:r>
            <a:r>
              <a:rPr lang="en-US" altLang="zh-CN" dirty="0"/>
              <a:t>t-6</a:t>
            </a:r>
            <a:r>
              <a:rPr lang="zh-CN" altLang="en-US" dirty="0"/>
              <a:t>天到第</a:t>
            </a:r>
            <a:r>
              <a:rPr lang="en-US" altLang="zh-CN" dirty="0"/>
              <a:t>t</a:t>
            </a:r>
            <a:r>
              <a:rPr lang="zh-CN" altLang="en-US" dirty="0"/>
              <a:t>天的径流来预测第</a:t>
            </a:r>
            <a:r>
              <a:rPr lang="en-US" altLang="zh-CN" dirty="0"/>
              <a:t>t+1</a:t>
            </a:r>
            <a:r>
              <a:rPr lang="zh-CN" altLang="en-US" dirty="0"/>
              <a:t>到第</a:t>
            </a:r>
            <a:r>
              <a:rPr lang="en-US" altLang="zh-CN" dirty="0"/>
              <a:t>t+5</a:t>
            </a:r>
            <a:r>
              <a:rPr lang="zh-CN" altLang="en-US" dirty="0"/>
              <a:t>天的径流。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107510" y="1664167"/>
            <a:ext cx="4752528" cy="1146691"/>
            <a:chOff x="324322" y="1757632"/>
            <a:chExt cx="4752528" cy="1146691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468338" y="2414538"/>
              <a:ext cx="41764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468338" y="2198514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2916610" y="2198514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324322" y="2486546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</a:t>
              </a:r>
              <a:endParaRPr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700586" y="2486546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7</a:t>
              </a:r>
              <a:endParaRPr lang="zh-CN" altLang="en-US" dirty="0"/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3204642" y="2198514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3092957" y="2486546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428778" y="2504213"/>
              <a:ext cx="64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12</a:t>
              </a:r>
              <a:endParaRPr lang="zh-CN" altLang="en-US" dirty="0"/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4644802" y="2198514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468338" y="2198514"/>
              <a:ext cx="2448272" cy="216024"/>
            </a:xfrm>
            <a:prstGeom prst="rect">
              <a:avLst/>
            </a:prstGeom>
            <a:solidFill>
              <a:srgbClr val="0276E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204642" y="2198514"/>
              <a:ext cx="144016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636690" y="1838474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?</a:t>
              </a:r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628578" y="1757632"/>
              <a:ext cx="64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t=7</a:t>
              </a:r>
              <a:endParaRPr lang="zh-CN" altLang="en-US" dirty="0"/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114416" y="2672279"/>
            <a:ext cx="4752528" cy="1146691"/>
            <a:chOff x="331228" y="3159275"/>
            <a:chExt cx="4752528" cy="1146691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475244" y="3816181"/>
              <a:ext cx="41764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475244" y="3600157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2923516" y="3600157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331228" y="3888189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2707492" y="3888189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8</a:t>
              </a:r>
              <a:endParaRPr lang="zh-CN" altLang="en-US" dirty="0"/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3211548" y="3600157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3099863" y="3888189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9</a:t>
              </a:r>
              <a:endParaRPr lang="zh-CN" altLang="en-US" dirty="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4435684" y="3905856"/>
              <a:ext cx="64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13</a:t>
              </a:r>
              <a:endParaRPr lang="zh-CN" altLang="en-US" dirty="0"/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4651708" y="3600157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矩形 48"/>
            <p:cNvSpPr/>
            <p:nvPr/>
          </p:nvSpPr>
          <p:spPr>
            <a:xfrm>
              <a:off x="475244" y="3600157"/>
              <a:ext cx="2448272" cy="216024"/>
            </a:xfrm>
            <a:prstGeom prst="rect">
              <a:avLst/>
            </a:prstGeom>
            <a:solidFill>
              <a:srgbClr val="0276E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3211548" y="3600157"/>
              <a:ext cx="144016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3643596" y="3240117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?</a:t>
              </a:r>
              <a:endParaRPr lang="zh-CN" altLang="en-US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635484" y="3159275"/>
              <a:ext cx="64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t=8</a:t>
              </a:r>
              <a:endParaRPr lang="zh-CN" altLang="en-US" dirty="0"/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14416" y="3680391"/>
            <a:ext cx="4752528" cy="1146691"/>
            <a:chOff x="331228" y="4562470"/>
            <a:chExt cx="4752528" cy="1146691"/>
          </a:xfrm>
        </p:grpSpPr>
        <p:cxnSp>
          <p:nvCxnSpPr>
            <p:cNvPr id="54" name="直接连接符 53"/>
            <p:cNvCxnSpPr/>
            <p:nvPr/>
          </p:nvCxnSpPr>
          <p:spPr>
            <a:xfrm>
              <a:off x="475244" y="5219376"/>
              <a:ext cx="41764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475244" y="5003352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2923516" y="5003352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/>
          </p:nvSpPr>
          <p:spPr>
            <a:xfrm>
              <a:off x="331228" y="5291384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2707492" y="5291384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9</a:t>
              </a:r>
              <a:endParaRPr lang="zh-CN" altLang="en-US" dirty="0"/>
            </a:p>
          </p:txBody>
        </p:sp>
        <p:cxnSp>
          <p:nvCxnSpPr>
            <p:cNvPr id="59" name="直接连接符 58"/>
            <p:cNvCxnSpPr/>
            <p:nvPr/>
          </p:nvCxnSpPr>
          <p:spPr>
            <a:xfrm>
              <a:off x="3211548" y="5003352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/>
          </p:nvSpPr>
          <p:spPr>
            <a:xfrm>
              <a:off x="3099862" y="5291384"/>
              <a:ext cx="543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10</a:t>
              </a:r>
              <a:endParaRPr lang="zh-CN" altLang="en-US" dirty="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4435684" y="5309051"/>
              <a:ext cx="64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14</a:t>
              </a:r>
              <a:endParaRPr lang="zh-CN" altLang="en-US" dirty="0"/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4651708" y="5003352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3" name="矩形 62"/>
            <p:cNvSpPr/>
            <p:nvPr/>
          </p:nvSpPr>
          <p:spPr>
            <a:xfrm>
              <a:off x="475244" y="5003352"/>
              <a:ext cx="2448272" cy="216024"/>
            </a:xfrm>
            <a:prstGeom prst="rect">
              <a:avLst/>
            </a:prstGeom>
            <a:solidFill>
              <a:srgbClr val="0276E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3211548" y="5003352"/>
              <a:ext cx="144016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643596" y="4643312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?</a:t>
              </a:r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2635484" y="4562470"/>
              <a:ext cx="64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t=9</a:t>
              </a:r>
              <a:endParaRPr lang="zh-CN" altLang="en-US" dirty="0"/>
            </a:p>
          </p:txBody>
        </p:sp>
      </p:grpSp>
      <p:sp>
        <p:nvSpPr>
          <p:cNvPr id="79" name="文本框 78"/>
          <p:cNvSpPr txBox="1"/>
          <p:nvPr/>
        </p:nvSpPr>
        <p:spPr>
          <a:xfrm>
            <a:off x="4875249" y="1693740"/>
            <a:ext cx="42362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t+1      t+2       t+3       t+4       t+5</a:t>
            </a:r>
            <a:endParaRPr lang="zh-CN" altLang="en-US" dirty="0"/>
          </a:p>
        </p:txBody>
      </p:sp>
      <p:sp>
        <p:nvSpPr>
          <p:cNvPr id="80" name="文本框 79"/>
          <p:cNvSpPr txBox="1"/>
          <p:nvPr/>
        </p:nvSpPr>
        <p:spPr>
          <a:xfrm>
            <a:off x="4716810" y="2115351"/>
            <a:ext cx="4248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</a:t>
            </a:r>
            <a:r>
              <a:rPr lang="en-US" altLang="zh-CN" baseline="30000" dirty="0" smtClean="0"/>
              <a:t>1-7</a:t>
            </a:r>
            <a:r>
              <a:rPr lang="en-US" altLang="zh-CN" baseline="-25000" dirty="0" smtClean="0"/>
              <a:t>8</a:t>
            </a:r>
            <a:r>
              <a:rPr lang="en-US" altLang="zh-CN" dirty="0" smtClean="0"/>
              <a:t>      </a:t>
            </a:r>
            <a:r>
              <a:rPr lang="en-US" altLang="zh-CN" dirty="0"/>
              <a:t>D</a:t>
            </a:r>
            <a:r>
              <a:rPr lang="en-US" altLang="zh-CN" baseline="30000" dirty="0"/>
              <a:t>1-7</a:t>
            </a:r>
            <a:r>
              <a:rPr lang="en-US" altLang="zh-CN" baseline="-25000" dirty="0"/>
              <a:t>9      </a:t>
            </a:r>
            <a:r>
              <a:rPr lang="en-US" altLang="zh-CN" baseline="-25000" dirty="0" smtClean="0"/>
              <a:t> </a:t>
            </a:r>
            <a:r>
              <a:rPr lang="en-US" altLang="zh-CN" dirty="0" smtClean="0"/>
              <a:t>D</a:t>
            </a:r>
            <a:r>
              <a:rPr lang="en-US" altLang="zh-CN" baseline="30000" dirty="0" smtClean="0"/>
              <a:t>1-7</a:t>
            </a:r>
            <a:r>
              <a:rPr lang="en-US" altLang="zh-CN" baseline="-25000" dirty="0" smtClean="0"/>
              <a:t>10     </a:t>
            </a:r>
            <a:r>
              <a:rPr lang="en-US" altLang="zh-CN" dirty="0"/>
              <a:t>D</a:t>
            </a:r>
            <a:r>
              <a:rPr lang="en-US" altLang="zh-CN" baseline="30000" dirty="0"/>
              <a:t>1-7</a:t>
            </a:r>
            <a:r>
              <a:rPr lang="en-US" altLang="zh-CN" baseline="-25000" dirty="0"/>
              <a:t>11</a:t>
            </a:r>
            <a:r>
              <a:rPr lang="en-US" altLang="zh-CN" dirty="0"/>
              <a:t>    D</a:t>
            </a:r>
            <a:r>
              <a:rPr lang="en-US" altLang="zh-CN" baseline="30000" dirty="0"/>
              <a:t>1-7</a:t>
            </a:r>
            <a:r>
              <a:rPr lang="en-US" altLang="zh-CN" baseline="-25000" dirty="0"/>
              <a:t>12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4716810" y="3115496"/>
            <a:ext cx="4236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r>
              <a:rPr lang="en-US" altLang="zh-CN" baseline="30000" dirty="0"/>
              <a:t>2-8</a:t>
            </a:r>
            <a:r>
              <a:rPr lang="en-US" altLang="zh-CN" baseline="-25000" dirty="0"/>
              <a:t>9</a:t>
            </a:r>
            <a:r>
              <a:rPr lang="en-US" altLang="zh-CN" dirty="0"/>
              <a:t>     </a:t>
            </a:r>
            <a:r>
              <a:rPr lang="en-US" altLang="zh-CN" dirty="0" smtClean="0"/>
              <a:t> D</a:t>
            </a:r>
            <a:r>
              <a:rPr lang="en-US" altLang="zh-CN" baseline="30000" dirty="0" smtClean="0"/>
              <a:t>2-8</a:t>
            </a:r>
            <a:r>
              <a:rPr lang="en-US" altLang="zh-CN" baseline="-25000" dirty="0" smtClean="0"/>
              <a:t>10     </a:t>
            </a:r>
            <a:r>
              <a:rPr lang="en-US" altLang="zh-CN" dirty="0"/>
              <a:t>D</a:t>
            </a:r>
            <a:r>
              <a:rPr lang="en-US" altLang="zh-CN" baseline="30000" dirty="0"/>
              <a:t>2-8</a:t>
            </a:r>
            <a:r>
              <a:rPr lang="en-US" altLang="zh-CN" baseline="-25000" dirty="0"/>
              <a:t>11     </a:t>
            </a:r>
            <a:r>
              <a:rPr lang="en-US" altLang="zh-CN" dirty="0"/>
              <a:t>D</a:t>
            </a:r>
            <a:r>
              <a:rPr lang="en-US" altLang="zh-CN" baseline="30000" dirty="0"/>
              <a:t>2-8</a:t>
            </a:r>
            <a:r>
              <a:rPr lang="en-US" altLang="zh-CN" baseline="-25000" dirty="0"/>
              <a:t>12</a:t>
            </a:r>
            <a:r>
              <a:rPr lang="en-US" altLang="zh-CN" dirty="0"/>
              <a:t>  D</a:t>
            </a:r>
            <a:r>
              <a:rPr lang="en-US" altLang="zh-CN" baseline="30000" dirty="0"/>
              <a:t>2-8</a:t>
            </a:r>
            <a:r>
              <a:rPr lang="en-US" altLang="zh-CN" baseline="-25000" dirty="0"/>
              <a:t>13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4716810" y="4094512"/>
            <a:ext cx="4511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</a:t>
            </a:r>
            <a:r>
              <a:rPr lang="en-US" altLang="zh-CN" baseline="30000" dirty="0"/>
              <a:t>3-9</a:t>
            </a:r>
            <a:r>
              <a:rPr lang="en-US" altLang="zh-CN" baseline="-25000" dirty="0"/>
              <a:t>10</a:t>
            </a:r>
            <a:r>
              <a:rPr lang="en-US" altLang="zh-CN" dirty="0"/>
              <a:t>     D</a:t>
            </a:r>
            <a:r>
              <a:rPr lang="en-US" altLang="zh-CN" baseline="30000" dirty="0"/>
              <a:t>3-9</a:t>
            </a:r>
            <a:r>
              <a:rPr lang="en-US" altLang="zh-CN" baseline="-25000" dirty="0"/>
              <a:t>11     </a:t>
            </a:r>
            <a:r>
              <a:rPr lang="en-US" altLang="zh-CN" dirty="0"/>
              <a:t>D</a:t>
            </a:r>
            <a:r>
              <a:rPr lang="en-US" altLang="zh-CN" baseline="30000" dirty="0"/>
              <a:t>3-9</a:t>
            </a:r>
            <a:r>
              <a:rPr lang="en-US" altLang="zh-CN" baseline="-25000" dirty="0"/>
              <a:t>12   </a:t>
            </a:r>
            <a:r>
              <a:rPr lang="en-US" altLang="zh-CN" dirty="0"/>
              <a:t>D</a:t>
            </a:r>
            <a:r>
              <a:rPr lang="en-US" altLang="zh-CN" baseline="30000" dirty="0"/>
              <a:t>3-9</a:t>
            </a:r>
            <a:r>
              <a:rPr lang="en-US" altLang="zh-CN" baseline="-25000" dirty="0"/>
              <a:t>13</a:t>
            </a:r>
            <a:r>
              <a:rPr lang="en-US" altLang="zh-CN" dirty="0"/>
              <a:t> </a:t>
            </a:r>
            <a:r>
              <a:rPr lang="en-US" altLang="zh-CN" dirty="0" smtClean="0"/>
              <a:t>  D</a:t>
            </a:r>
            <a:r>
              <a:rPr lang="en-US" altLang="zh-CN" baseline="30000" dirty="0" smtClean="0"/>
              <a:t>3-9</a:t>
            </a:r>
            <a:r>
              <a:rPr lang="en-US" altLang="zh-CN" baseline="-25000" dirty="0" smtClean="0"/>
              <a:t>14</a:t>
            </a:r>
            <a:endParaRPr lang="en-US" altLang="zh-CN" baseline="-25000" dirty="0"/>
          </a:p>
        </p:txBody>
      </p:sp>
      <p:sp>
        <p:nvSpPr>
          <p:cNvPr id="87" name="矩形 86"/>
          <p:cNvSpPr/>
          <p:nvPr/>
        </p:nvSpPr>
        <p:spPr>
          <a:xfrm>
            <a:off x="4803242" y="2065968"/>
            <a:ext cx="741514" cy="430900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/>
          <p:cNvSpPr/>
          <p:nvPr/>
        </p:nvSpPr>
        <p:spPr>
          <a:xfrm>
            <a:off x="5645903" y="2065968"/>
            <a:ext cx="782973" cy="42942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6492976" y="2065968"/>
            <a:ext cx="713175" cy="42942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/>
          <p:cNvSpPr/>
          <p:nvPr/>
        </p:nvSpPr>
        <p:spPr>
          <a:xfrm>
            <a:off x="7259149" y="2065968"/>
            <a:ext cx="719349" cy="42942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8061581" y="2065968"/>
            <a:ext cx="713175" cy="42704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704028" y="1388128"/>
            <a:ext cx="4305660" cy="288706"/>
            <a:chOff x="4703413" y="1921754"/>
            <a:chExt cx="4305660" cy="288706"/>
          </a:xfrm>
        </p:grpSpPr>
        <p:sp>
          <p:nvSpPr>
            <p:cNvPr id="92" name="文本框 91"/>
            <p:cNvSpPr txBox="1"/>
            <p:nvPr/>
          </p:nvSpPr>
          <p:spPr>
            <a:xfrm>
              <a:off x="4703413" y="1933461"/>
              <a:ext cx="9290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+mn-ea"/>
                </a:rPr>
                <a:t>预见期</a:t>
              </a:r>
              <a:r>
                <a:rPr lang="en-US" altLang="zh-CN" sz="1200" b="1" dirty="0">
                  <a:latin typeface="+mn-ea"/>
                </a:rPr>
                <a:t>1</a:t>
              </a:r>
              <a:r>
                <a:rPr lang="zh-CN" altLang="en-US" sz="1200" b="1" dirty="0">
                  <a:latin typeface="+mn-ea"/>
                </a:rPr>
                <a:t>天</a:t>
              </a: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5616601" y="1921754"/>
              <a:ext cx="9290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+mn-ea"/>
                </a:rPr>
                <a:t>预见期</a:t>
              </a:r>
              <a:r>
                <a:rPr lang="en-US" altLang="zh-CN" sz="1200" b="1" dirty="0">
                  <a:latin typeface="+mn-ea"/>
                </a:rPr>
                <a:t>2</a:t>
              </a:r>
              <a:r>
                <a:rPr lang="zh-CN" altLang="en-US" sz="1200" b="1" dirty="0">
                  <a:latin typeface="+mn-ea"/>
                </a:rPr>
                <a:t>天</a:t>
              </a: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6492361" y="1927517"/>
              <a:ext cx="9290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+mn-ea"/>
                </a:rPr>
                <a:t>预见期</a:t>
              </a:r>
              <a:r>
                <a:rPr lang="en-US" altLang="zh-CN" sz="1200" b="1" dirty="0">
                  <a:latin typeface="+mn-ea"/>
                </a:rPr>
                <a:t>3</a:t>
              </a:r>
              <a:r>
                <a:rPr lang="zh-CN" altLang="en-US" sz="1200" b="1" dirty="0">
                  <a:latin typeface="+mn-ea"/>
                </a:rPr>
                <a:t>天</a:t>
              </a: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7287945" y="1927516"/>
              <a:ext cx="9290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+mn-ea"/>
                </a:rPr>
                <a:t>预见期</a:t>
              </a:r>
              <a:r>
                <a:rPr lang="en-US" altLang="zh-CN" sz="1200" b="1" dirty="0">
                  <a:latin typeface="+mn-ea"/>
                </a:rPr>
                <a:t>4</a:t>
              </a:r>
              <a:r>
                <a:rPr lang="zh-CN" altLang="en-US" sz="1200" b="1" dirty="0">
                  <a:latin typeface="+mn-ea"/>
                </a:rPr>
                <a:t>天</a:t>
              </a: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8079980" y="1926480"/>
              <a:ext cx="9290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+mn-ea"/>
                </a:rPr>
                <a:t>预见期</a:t>
              </a:r>
              <a:r>
                <a:rPr lang="en-US" altLang="zh-CN" sz="1200" b="1" dirty="0">
                  <a:latin typeface="+mn-ea"/>
                </a:rPr>
                <a:t>5</a:t>
              </a:r>
              <a:r>
                <a:rPr lang="zh-CN" altLang="en-US" sz="1200" b="1" dirty="0">
                  <a:latin typeface="+mn-ea"/>
                </a:rPr>
                <a:t>天</a:t>
              </a: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="" xmlns:a16="http://schemas.microsoft.com/office/drawing/2014/main" id="{77005CA7-66CE-4203-9CAE-6E03B7254443}"/>
              </a:ext>
            </a:extLst>
          </p:cNvPr>
          <p:cNvGrpSpPr/>
          <p:nvPr/>
        </p:nvGrpSpPr>
        <p:grpSpPr>
          <a:xfrm>
            <a:off x="128943" y="5303067"/>
            <a:ext cx="4752529" cy="1146691"/>
            <a:chOff x="331227" y="4562470"/>
            <a:chExt cx="4752529" cy="1146691"/>
          </a:xfrm>
        </p:grpSpPr>
        <p:cxnSp>
          <p:nvCxnSpPr>
            <p:cNvPr id="68" name="直接连接符 67">
              <a:extLst>
                <a:ext uri="{FF2B5EF4-FFF2-40B4-BE49-F238E27FC236}">
                  <a16:creationId xmlns="" xmlns:a16="http://schemas.microsoft.com/office/drawing/2014/main" id="{538E047F-7169-4D6D-A98E-E55F1AAF40F8}"/>
                </a:ext>
              </a:extLst>
            </p:cNvPr>
            <p:cNvCxnSpPr/>
            <p:nvPr/>
          </p:nvCxnSpPr>
          <p:spPr>
            <a:xfrm>
              <a:off x="475244" y="5219376"/>
              <a:ext cx="41764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="" xmlns:a16="http://schemas.microsoft.com/office/drawing/2014/main" id="{34F9C373-709C-4B63-9489-867A6B883BD1}"/>
                </a:ext>
              </a:extLst>
            </p:cNvPr>
            <p:cNvCxnSpPr/>
            <p:nvPr/>
          </p:nvCxnSpPr>
          <p:spPr>
            <a:xfrm>
              <a:off x="475244" y="5003352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="" xmlns:a16="http://schemas.microsoft.com/office/drawing/2014/main" id="{B7E6D96E-C754-4BC8-8D12-BEAB0DA3E7E2}"/>
                </a:ext>
              </a:extLst>
            </p:cNvPr>
            <p:cNvCxnSpPr/>
            <p:nvPr/>
          </p:nvCxnSpPr>
          <p:spPr>
            <a:xfrm>
              <a:off x="2923516" y="5003352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="" xmlns:a16="http://schemas.microsoft.com/office/drawing/2014/main" id="{6C099CEA-3DF2-41CC-80B8-D7CA83CF2EDA}"/>
                </a:ext>
              </a:extLst>
            </p:cNvPr>
            <p:cNvSpPr txBox="1"/>
            <p:nvPr/>
          </p:nvSpPr>
          <p:spPr>
            <a:xfrm>
              <a:off x="331227" y="5291384"/>
              <a:ext cx="9146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355</a:t>
              </a:r>
              <a:endParaRPr lang="zh-CN" altLang="en-US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="" xmlns:a16="http://schemas.microsoft.com/office/drawing/2014/main" id="{BFD33585-17A3-47F1-BCC8-21193AF86837}"/>
                </a:ext>
              </a:extLst>
            </p:cNvPr>
            <p:cNvSpPr txBox="1"/>
            <p:nvPr/>
          </p:nvSpPr>
          <p:spPr>
            <a:xfrm>
              <a:off x="2329208" y="5291384"/>
              <a:ext cx="8103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361</a:t>
              </a:r>
              <a:endParaRPr lang="zh-CN" altLang="en-US" dirty="0"/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="" xmlns:a16="http://schemas.microsoft.com/office/drawing/2014/main" id="{911D9349-6C22-4F34-80A7-9D0E7E3A8937}"/>
                </a:ext>
              </a:extLst>
            </p:cNvPr>
            <p:cNvCxnSpPr/>
            <p:nvPr/>
          </p:nvCxnSpPr>
          <p:spPr>
            <a:xfrm>
              <a:off x="3211548" y="5003352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4" name="文本框 73">
              <a:extLst>
                <a:ext uri="{FF2B5EF4-FFF2-40B4-BE49-F238E27FC236}">
                  <a16:creationId xmlns="" xmlns:a16="http://schemas.microsoft.com/office/drawing/2014/main" id="{0A3C4847-3463-495B-87CE-1747B3C8900F}"/>
                </a:ext>
              </a:extLst>
            </p:cNvPr>
            <p:cNvSpPr txBox="1"/>
            <p:nvPr/>
          </p:nvSpPr>
          <p:spPr>
            <a:xfrm>
              <a:off x="3099862" y="5291384"/>
              <a:ext cx="8103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362</a:t>
              </a:r>
              <a:endParaRPr lang="zh-CN" altLang="en-US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="" xmlns:a16="http://schemas.microsoft.com/office/drawing/2014/main" id="{12BCF44B-5D3C-478D-8CC0-0E06FA9476B0}"/>
                </a:ext>
              </a:extLst>
            </p:cNvPr>
            <p:cNvSpPr txBox="1"/>
            <p:nvPr/>
          </p:nvSpPr>
          <p:spPr>
            <a:xfrm>
              <a:off x="4435684" y="5309051"/>
              <a:ext cx="6480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366</a:t>
              </a:r>
              <a:endParaRPr lang="zh-CN" altLang="en-US" dirty="0"/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="" xmlns:a16="http://schemas.microsoft.com/office/drawing/2014/main" id="{CB040579-06BB-4C1D-BB9B-F41806190421}"/>
                </a:ext>
              </a:extLst>
            </p:cNvPr>
            <p:cNvCxnSpPr/>
            <p:nvPr/>
          </p:nvCxnSpPr>
          <p:spPr>
            <a:xfrm>
              <a:off x="4651708" y="5003352"/>
              <a:ext cx="0" cy="2160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矩形 83">
              <a:extLst>
                <a:ext uri="{FF2B5EF4-FFF2-40B4-BE49-F238E27FC236}">
                  <a16:creationId xmlns="" xmlns:a16="http://schemas.microsoft.com/office/drawing/2014/main" id="{513DEF08-DA47-40DE-BF3F-6B80817E92C1}"/>
                </a:ext>
              </a:extLst>
            </p:cNvPr>
            <p:cNvSpPr/>
            <p:nvPr/>
          </p:nvSpPr>
          <p:spPr>
            <a:xfrm>
              <a:off x="475244" y="5003352"/>
              <a:ext cx="2448272" cy="216024"/>
            </a:xfrm>
            <a:prstGeom prst="rect">
              <a:avLst/>
            </a:prstGeom>
            <a:solidFill>
              <a:srgbClr val="0276E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="" xmlns:a16="http://schemas.microsoft.com/office/drawing/2014/main" id="{AC167D16-9CFD-477A-9F51-73DD9911EA45}"/>
                </a:ext>
              </a:extLst>
            </p:cNvPr>
            <p:cNvSpPr/>
            <p:nvPr/>
          </p:nvSpPr>
          <p:spPr>
            <a:xfrm>
              <a:off x="3211548" y="5003352"/>
              <a:ext cx="1440160" cy="216024"/>
            </a:xfrm>
            <a:prstGeom prst="rect">
              <a:avLst/>
            </a:prstGeom>
            <a:solidFill>
              <a:srgbClr val="FF0000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="" xmlns:a16="http://schemas.microsoft.com/office/drawing/2014/main" id="{F0EB6BEF-B78B-4987-AA7D-1C13EEDA91C9}"/>
                </a:ext>
              </a:extLst>
            </p:cNvPr>
            <p:cNvSpPr txBox="1"/>
            <p:nvPr/>
          </p:nvSpPr>
          <p:spPr>
            <a:xfrm>
              <a:off x="3643596" y="4643312"/>
              <a:ext cx="432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?</a:t>
              </a:r>
              <a:endParaRPr lang="zh-CN" altLang="en-US" dirty="0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="" xmlns:a16="http://schemas.microsoft.com/office/drawing/2014/main" id="{0FC21398-384C-4506-90C4-3B0CB60A1BA0}"/>
                </a:ext>
              </a:extLst>
            </p:cNvPr>
            <p:cNvSpPr txBox="1"/>
            <p:nvPr/>
          </p:nvSpPr>
          <p:spPr>
            <a:xfrm>
              <a:off x="2635483" y="4562470"/>
              <a:ext cx="9361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t=361</a:t>
              </a:r>
              <a:endParaRPr lang="zh-CN" altLang="en-US" dirty="0"/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390912" y="4433552"/>
            <a:ext cx="7214330" cy="1244698"/>
            <a:chOff x="1390912" y="4433552"/>
            <a:chExt cx="7214330" cy="1244698"/>
          </a:xfrm>
        </p:grpSpPr>
        <p:sp>
          <p:nvSpPr>
            <p:cNvPr id="4" name="文本框 3">
              <a:extLst>
                <a:ext uri="{FF2B5EF4-FFF2-40B4-BE49-F238E27FC236}">
                  <a16:creationId xmlns="" xmlns:a16="http://schemas.microsoft.com/office/drawing/2014/main" id="{8FB4848B-9FE8-44AE-B88D-3407DA49D306}"/>
                </a:ext>
              </a:extLst>
            </p:cNvPr>
            <p:cNvSpPr txBox="1"/>
            <p:nvPr/>
          </p:nvSpPr>
          <p:spPr>
            <a:xfrm>
              <a:off x="1390912" y="4662587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="" xmlns:a16="http://schemas.microsoft.com/office/drawing/2014/main" id="{A105C8FE-77CD-4855-BFD7-290E6D5D8099}"/>
                </a:ext>
              </a:extLst>
            </p:cNvPr>
            <p:cNvSpPr txBox="1"/>
            <p:nvPr/>
          </p:nvSpPr>
          <p:spPr>
            <a:xfrm>
              <a:off x="5012124" y="4453915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  <p:sp>
          <p:nvSpPr>
            <p:cNvPr id="100" name="文本框 99">
              <a:extLst>
                <a:ext uri="{FF2B5EF4-FFF2-40B4-BE49-F238E27FC236}">
                  <a16:creationId xmlns="" xmlns:a16="http://schemas.microsoft.com/office/drawing/2014/main" id="{8C47F9E5-43C7-4067-A9BB-3DD24786BADC}"/>
                </a:ext>
              </a:extLst>
            </p:cNvPr>
            <p:cNvSpPr txBox="1"/>
            <p:nvPr/>
          </p:nvSpPr>
          <p:spPr>
            <a:xfrm>
              <a:off x="5868938" y="4439596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="" xmlns:a16="http://schemas.microsoft.com/office/drawing/2014/main" id="{206103DA-BBA5-4097-BF30-4C7A9A27A91B}"/>
                </a:ext>
              </a:extLst>
            </p:cNvPr>
            <p:cNvSpPr txBox="1"/>
            <p:nvPr/>
          </p:nvSpPr>
          <p:spPr>
            <a:xfrm>
              <a:off x="6733034" y="4439595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="" xmlns:a16="http://schemas.microsoft.com/office/drawing/2014/main" id="{3A255BDC-9FDB-47A2-A49E-3B3D2E37C4B3}"/>
                </a:ext>
              </a:extLst>
            </p:cNvPr>
            <p:cNvSpPr txBox="1"/>
            <p:nvPr/>
          </p:nvSpPr>
          <p:spPr>
            <a:xfrm>
              <a:off x="7532404" y="4433552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="" xmlns:a16="http://schemas.microsoft.com/office/drawing/2014/main" id="{01AA882D-4ABF-489B-8CF6-A79F42E682D2}"/>
                </a:ext>
              </a:extLst>
            </p:cNvPr>
            <p:cNvSpPr txBox="1"/>
            <p:nvPr/>
          </p:nvSpPr>
          <p:spPr>
            <a:xfrm>
              <a:off x="8252484" y="4433552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855693" y="5512581"/>
            <a:ext cx="3919063" cy="380704"/>
            <a:chOff x="4855693" y="5512581"/>
            <a:chExt cx="3919063" cy="38070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5693" y="5512581"/>
              <a:ext cx="725213" cy="38070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2602" y="5512581"/>
              <a:ext cx="720991" cy="37848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17010" y="5512581"/>
              <a:ext cx="702523" cy="368793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03622" y="5512581"/>
              <a:ext cx="702807" cy="368942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23992" y="5512581"/>
              <a:ext cx="650764" cy="3416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841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/>
      <p:bldP spid="81" grpId="0"/>
      <p:bldP spid="82" grpId="0"/>
      <p:bldP spid="87" grpId="0" animBg="1"/>
      <p:bldP spid="88" grpId="0" animBg="1"/>
      <p:bldP spid="89" grpId="0" animBg="1"/>
      <p:bldP spid="90" grpId="0" animBg="1"/>
      <p:bldP spid="9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9"/>
          <p:cNvSpPr txBox="1">
            <a:spLocks noChangeArrowheads="1"/>
          </p:cNvSpPr>
          <p:nvPr/>
        </p:nvSpPr>
        <p:spPr bwMode="auto">
          <a:xfrm>
            <a:off x="36290" y="182290"/>
            <a:ext cx="4698722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径流预测精度的评价指标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06" y="1420338"/>
            <a:ext cx="3384376" cy="1340775"/>
          </a:xfrm>
          <a:prstGeom prst="rect">
            <a:avLst/>
          </a:prstGeom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558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508726"/>
              </p:ext>
            </p:extLst>
          </p:nvPr>
        </p:nvGraphicFramePr>
        <p:xfrm>
          <a:off x="428881" y="2893340"/>
          <a:ext cx="2592288" cy="1170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Equation" r:id="rId5" imgW="1473200" imgH="660400" progId="Equation.DSMT4">
                  <p:embed/>
                </p:oleObj>
              </mc:Choice>
              <mc:Fallback>
                <p:oleObj name="Equation" r:id="rId5" imgW="1473200" imgH="660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881" y="2893340"/>
                        <a:ext cx="2592288" cy="11707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748300"/>
              </p:ext>
            </p:extLst>
          </p:nvPr>
        </p:nvGraphicFramePr>
        <p:xfrm>
          <a:off x="501461" y="4451537"/>
          <a:ext cx="2519708" cy="792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Equation" r:id="rId7" imgW="1358310" imgH="431613" progId="Equation.DSMT4">
                  <p:embed/>
                </p:oleObj>
              </mc:Choice>
              <mc:Fallback>
                <p:oleObj name="Equation" r:id="rId7" imgW="1358310" imgH="43161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61" y="4451537"/>
                        <a:ext cx="2519708" cy="7929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36290" y="5660737"/>
            <a:ext cx="4819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分别计算</a:t>
            </a:r>
            <a:r>
              <a:rPr lang="zh-CN" altLang="en-US" dirty="0">
                <a:solidFill>
                  <a:srgbClr val="FF0000"/>
                </a:solidFill>
              </a:rPr>
              <a:t>不同预见期下</a:t>
            </a:r>
            <a:r>
              <a:rPr lang="zh-CN" altLang="en-US" dirty="0"/>
              <a:t>的径流预测精度。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21572" y="1135438"/>
            <a:ext cx="4524016" cy="4986847"/>
            <a:chOff x="4704028" y="1388128"/>
            <a:chExt cx="4524016" cy="4986847"/>
          </a:xfrm>
        </p:grpSpPr>
        <p:sp>
          <p:nvSpPr>
            <p:cNvPr id="46" name="文本框 45"/>
            <p:cNvSpPr txBox="1"/>
            <p:nvPr/>
          </p:nvSpPr>
          <p:spPr>
            <a:xfrm>
              <a:off x="4875249" y="1693740"/>
              <a:ext cx="42362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t+1      t+2       t+3       t+4       t+5</a:t>
              </a:r>
              <a:endParaRPr lang="zh-CN" altLang="en-US" dirty="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4716810" y="2115351"/>
              <a:ext cx="42484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D</a:t>
              </a:r>
              <a:r>
                <a:rPr lang="en-US" altLang="zh-CN" baseline="30000" dirty="0" smtClean="0"/>
                <a:t>1-7</a:t>
              </a:r>
              <a:r>
                <a:rPr lang="en-US" altLang="zh-CN" baseline="-25000" dirty="0" smtClean="0"/>
                <a:t>8</a:t>
              </a:r>
              <a:r>
                <a:rPr lang="en-US" altLang="zh-CN" dirty="0" smtClean="0"/>
                <a:t>      </a:t>
              </a:r>
              <a:r>
                <a:rPr lang="en-US" altLang="zh-CN" dirty="0"/>
                <a:t>D</a:t>
              </a:r>
              <a:r>
                <a:rPr lang="en-US" altLang="zh-CN" baseline="30000" dirty="0"/>
                <a:t>1-7</a:t>
              </a:r>
              <a:r>
                <a:rPr lang="en-US" altLang="zh-CN" baseline="-25000" dirty="0"/>
                <a:t>9      </a:t>
              </a:r>
              <a:r>
                <a:rPr lang="en-US" altLang="zh-CN" baseline="-25000" dirty="0" smtClean="0"/>
                <a:t> </a:t>
              </a:r>
              <a:r>
                <a:rPr lang="en-US" altLang="zh-CN" dirty="0" smtClean="0"/>
                <a:t>D</a:t>
              </a:r>
              <a:r>
                <a:rPr lang="en-US" altLang="zh-CN" baseline="30000" dirty="0" smtClean="0"/>
                <a:t>1-7</a:t>
              </a:r>
              <a:r>
                <a:rPr lang="en-US" altLang="zh-CN" baseline="-25000" dirty="0" smtClean="0"/>
                <a:t>10     </a:t>
              </a:r>
              <a:r>
                <a:rPr lang="en-US" altLang="zh-CN" dirty="0"/>
                <a:t>D</a:t>
              </a:r>
              <a:r>
                <a:rPr lang="en-US" altLang="zh-CN" baseline="30000" dirty="0"/>
                <a:t>1-7</a:t>
              </a:r>
              <a:r>
                <a:rPr lang="en-US" altLang="zh-CN" baseline="-25000" dirty="0"/>
                <a:t>11</a:t>
              </a:r>
              <a:r>
                <a:rPr lang="en-US" altLang="zh-CN" dirty="0"/>
                <a:t>    D</a:t>
              </a:r>
              <a:r>
                <a:rPr lang="en-US" altLang="zh-CN" baseline="30000" dirty="0"/>
                <a:t>1-7</a:t>
              </a:r>
              <a:r>
                <a:rPr lang="en-US" altLang="zh-CN" baseline="-25000" dirty="0"/>
                <a:t>12</a:t>
              </a: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716810" y="3115496"/>
              <a:ext cx="42362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D</a:t>
              </a:r>
              <a:r>
                <a:rPr lang="en-US" altLang="zh-CN" baseline="30000" dirty="0"/>
                <a:t>2-8</a:t>
              </a:r>
              <a:r>
                <a:rPr lang="en-US" altLang="zh-CN" baseline="-25000" dirty="0"/>
                <a:t>9</a:t>
              </a:r>
              <a:r>
                <a:rPr lang="en-US" altLang="zh-CN" dirty="0"/>
                <a:t>     </a:t>
              </a:r>
              <a:r>
                <a:rPr lang="en-US" altLang="zh-CN" dirty="0" smtClean="0"/>
                <a:t> D</a:t>
              </a:r>
              <a:r>
                <a:rPr lang="en-US" altLang="zh-CN" baseline="30000" dirty="0" smtClean="0"/>
                <a:t>2-8</a:t>
              </a:r>
              <a:r>
                <a:rPr lang="en-US" altLang="zh-CN" baseline="-25000" dirty="0" smtClean="0"/>
                <a:t>10     </a:t>
              </a:r>
              <a:r>
                <a:rPr lang="en-US" altLang="zh-CN" dirty="0"/>
                <a:t>D</a:t>
              </a:r>
              <a:r>
                <a:rPr lang="en-US" altLang="zh-CN" baseline="30000" dirty="0"/>
                <a:t>2-8</a:t>
              </a:r>
              <a:r>
                <a:rPr lang="en-US" altLang="zh-CN" baseline="-25000" dirty="0"/>
                <a:t>11     </a:t>
              </a:r>
              <a:r>
                <a:rPr lang="en-US" altLang="zh-CN" dirty="0"/>
                <a:t>D</a:t>
              </a:r>
              <a:r>
                <a:rPr lang="en-US" altLang="zh-CN" baseline="30000" dirty="0"/>
                <a:t>2-8</a:t>
              </a:r>
              <a:r>
                <a:rPr lang="en-US" altLang="zh-CN" baseline="-25000" dirty="0"/>
                <a:t>12</a:t>
              </a:r>
              <a:r>
                <a:rPr lang="en-US" altLang="zh-CN" dirty="0"/>
                <a:t>  D</a:t>
              </a:r>
              <a:r>
                <a:rPr lang="en-US" altLang="zh-CN" baseline="30000" dirty="0"/>
                <a:t>2-8</a:t>
              </a:r>
              <a:r>
                <a:rPr lang="en-US" altLang="zh-CN" baseline="-25000" dirty="0"/>
                <a:t>13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4716810" y="4094512"/>
              <a:ext cx="45112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D</a:t>
              </a:r>
              <a:r>
                <a:rPr lang="en-US" altLang="zh-CN" baseline="30000" dirty="0"/>
                <a:t>3-9</a:t>
              </a:r>
              <a:r>
                <a:rPr lang="en-US" altLang="zh-CN" baseline="-25000" dirty="0"/>
                <a:t>10</a:t>
              </a:r>
              <a:r>
                <a:rPr lang="en-US" altLang="zh-CN" dirty="0"/>
                <a:t>     D</a:t>
              </a:r>
              <a:r>
                <a:rPr lang="en-US" altLang="zh-CN" baseline="30000" dirty="0"/>
                <a:t>3-9</a:t>
              </a:r>
              <a:r>
                <a:rPr lang="en-US" altLang="zh-CN" baseline="-25000" dirty="0"/>
                <a:t>11     </a:t>
              </a:r>
              <a:r>
                <a:rPr lang="en-US" altLang="zh-CN" dirty="0"/>
                <a:t>D</a:t>
              </a:r>
              <a:r>
                <a:rPr lang="en-US" altLang="zh-CN" baseline="30000" dirty="0"/>
                <a:t>3-9</a:t>
              </a:r>
              <a:r>
                <a:rPr lang="en-US" altLang="zh-CN" baseline="-25000" dirty="0"/>
                <a:t>12   </a:t>
              </a:r>
              <a:r>
                <a:rPr lang="en-US" altLang="zh-CN" dirty="0"/>
                <a:t>D</a:t>
              </a:r>
              <a:r>
                <a:rPr lang="en-US" altLang="zh-CN" baseline="30000" dirty="0"/>
                <a:t>3-9</a:t>
              </a:r>
              <a:r>
                <a:rPr lang="en-US" altLang="zh-CN" baseline="-25000" dirty="0"/>
                <a:t>13</a:t>
              </a:r>
              <a:r>
                <a:rPr lang="en-US" altLang="zh-CN" dirty="0"/>
                <a:t> </a:t>
              </a:r>
              <a:r>
                <a:rPr lang="en-US" altLang="zh-CN" dirty="0" smtClean="0"/>
                <a:t>  D</a:t>
              </a:r>
              <a:r>
                <a:rPr lang="en-US" altLang="zh-CN" baseline="30000" dirty="0" smtClean="0"/>
                <a:t>3-9</a:t>
              </a:r>
              <a:r>
                <a:rPr lang="en-US" altLang="zh-CN" baseline="-25000" dirty="0" smtClean="0"/>
                <a:t>14</a:t>
              </a:r>
              <a:endParaRPr lang="en-US" altLang="zh-CN" baseline="-25000" dirty="0"/>
            </a:p>
          </p:txBody>
        </p:sp>
        <p:sp>
          <p:nvSpPr>
            <p:cNvPr id="51" name="矩形 50"/>
            <p:cNvSpPr/>
            <p:nvPr/>
          </p:nvSpPr>
          <p:spPr>
            <a:xfrm>
              <a:off x="4803242" y="2065968"/>
              <a:ext cx="741514" cy="43090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5645903" y="2065968"/>
              <a:ext cx="782973" cy="429427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6492976" y="2065968"/>
              <a:ext cx="713175" cy="42942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7259149" y="2065968"/>
              <a:ext cx="719349" cy="429427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8061581" y="2065968"/>
              <a:ext cx="713175" cy="42704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4704028" y="1388128"/>
              <a:ext cx="4305660" cy="288706"/>
              <a:chOff x="4703413" y="1921754"/>
              <a:chExt cx="4305660" cy="288706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4703413" y="1933461"/>
                <a:ext cx="9290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+mn-ea"/>
                  </a:rPr>
                  <a:t>预见期</a:t>
                </a:r>
                <a:r>
                  <a:rPr lang="en-US" altLang="zh-CN" sz="1200" b="1" dirty="0">
                    <a:latin typeface="+mn-ea"/>
                  </a:rPr>
                  <a:t>1</a:t>
                </a:r>
                <a:r>
                  <a:rPr lang="zh-CN" altLang="en-US" sz="1200" b="1" dirty="0">
                    <a:latin typeface="+mn-ea"/>
                  </a:rPr>
                  <a:t>天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5616601" y="1921754"/>
                <a:ext cx="9290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+mn-ea"/>
                  </a:rPr>
                  <a:t>预见期</a:t>
                </a:r>
                <a:r>
                  <a:rPr lang="en-US" altLang="zh-CN" sz="1200" b="1" dirty="0">
                    <a:latin typeface="+mn-ea"/>
                  </a:rPr>
                  <a:t>2</a:t>
                </a:r>
                <a:r>
                  <a:rPr lang="zh-CN" altLang="en-US" sz="1200" b="1" dirty="0">
                    <a:latin typeface="+mn-ea"/>
                  </a:rPr>
                  <a:t>天</a:t>
                </a: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6492361" y="1927517"/>
                <a:ext cx="9290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+mn-ea"/>
                  </a:rPr>
                  <a:t>预见期</a:t>
                </a:r>
                <a:r>
                  <a:rPr lang="en-US" altLang="zh-CN" sz="1200" b="1" dirty="0">
                    <a:latin typeface="+mn-ea"/>
                  </a:rPr>
                  <a:t>3</a:t>
                </a:r>
                <a:r>
                  <a:rPr lang="zh-CN" altLang="en-US" sz="1200" b="1" dirty="0">
                    <a:latin typeface="+mn-ea"/>
                  </a:rPr>
                  <a:t>天</a:t>
                </a: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7287945" y="1927516"/>
                <a:ext cx="9290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+mn-ea"/>
                  </a:rPr>
                  <a:t>预见期</a:t>
                </a:r>
                <a:r>
                  <a:rPr lang="en-US" altLang="zh-CN" sz="1200" b="1" dirty="0">
                    <a:latin typeface="+mn-ea"/>
                  </a:rPr>
                  <a:t>4</a:t>
                </a:r>
                <a:r>
                  <a:rPr lang="zh-CN" altLang="en-US" sz="1200" b="1" dirty="0">
                    <a:latin typeface="+mn-ea"/>
                  </a:rPr>
                  <a:t>天</a:t>
                </a: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8079980" y="1926480"/>
                <a:ext cx="9290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+mn-ea"/>
                  </a:rPr>
                  <a:t>预见期</a:t>
                </a:r>
                <a:r>
                  <a:rPr lang="en-US" altLang="zh-CN" sz="1200" b="1" dirty="0">
                    <a:latin typeface="+mn-ea"/>
                  </a:rPr>
                  <a:t>5</a:t>
                </a:r>
                <a:r>
                  <a:rPr lang="zh-CN" altLang="en-US" sz="1200" b="1" dirty="0">
                    <a:latin typeface="+mn-ea"/>
                  </a:rPr>
                  <a:t>天</a:t>
                </a:r>
              </a:p>
            </p:txBody>
          </p:sp>
        </p:grpSp>
        <p:sp>
          <p:nvSpPr>
            <p:cNvPr id="64" name="文本框 63">
              <a:extLst>
                <a:ext uri="{FF2B5EF4-FFF2-40B4-BE49-F238E27FC236}">
                  <a16:creationId xmlns="" xmlns:a16="http://schemas.microsoft.com/office/drawing/2014/main" id="{A105C8FE-77CD-4855-BFD7-290E6D5D8099}"/>
                </a:ext>
              </a:extLst>
            </p:cNvPr>
            <p:cNvSpPr txBox="1"/>
            <p:nvPr/>
          </p:nvSpPr>
          <p:spPr>
            <a:xfrm>
              <a:off x="5012124" y="4453915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="" xmlns:a16="http://schemas.microsoft.com/office/drawing/2014/main" id="{8C47F9E5-43C7-4067-A9BB-3DD24786BADC}"/>
                </a:ext>
              </a:extLst>
            </p:cNvPr>
            <p:cNvSpPr txBox="1"/>
            <p:nvPr/>
          </p:nvSpPr>
          <p:spPr>
            <a:xfrm>
              <a:off x="5868938" y="4439596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="" xmlns:a16="http://schemas.microsoft.com/office/drawing/2014/main" id="{206103DA-BBA5-4097-BF30-4C7A9A27A91B}"/>
                </a:ext>
              </a:extLst>
            </p:cNvPr>
            <p:cNvSpPr txBox="1"/>
            <p:nvPr/>
          </p:nvSpPr>
          <p:spPr>
            <a:xfrm>
              <a:off x="6733034" y="4439595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="" xmlns:a16="http://schemas.microsoft.com/office/drawing/2014/main" id="{3A255BDC-9FDB-47A2-A49E-3B3D2E37C4B3}"/>
                </a:ext>
              </a:extLst>
            </p:cNvPr>
            <p:cNvSpPr txBox="1"/>
            <p:nvPr/>
          </p:nvSpPr>
          <p:spPr>
            <a:xfrm>
              <a:off x="7532404" y="4433552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  <p:sp>
          <p:nvSpPr>
            <p:cNvPr id="68" name="文本框 67">
              <a:extLst>
                <a:ext uri="{FF2B5EF4-FFF2-40B4-BE49-F238E27FC236}">
                  <a16:creationId xmlns="" xmlns:a16="http://schemas.microsoft.com/office/drawing/2014/main" id="{01AA882D-4ABF-489B-8CF6-A79F42E682D2}"/>
                </a:ext>
              </a:extLst>
            </p:cNvPr>
            <p:cNvSpPr txBox="1"/>
            <p:nvPr/>
          </p:nvSpPr>
          <p:spPr>
            <a:xfrm>
              <a:off x="8252484" y="4433552"/>
              <a:ext cx="35275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</a:p>
            <a:p>
              <a:r>
                <a:rPr lang="en-US" altLang="zh-CN" dirty="0"/>
                <a:t>.</a:t>
              </a:r>
              <a:endParaRPr lang="zh-CN" altLang="en-US" dirty="0"/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4855693" y="5512581"/>
              <a:ext cx="3919063" cy="380704"/>
              <a:chOff x="4855693" y="5512581"/>
              <a:chExt cx="3919063" cy="380704"/>
            </a:xfrm>
          </p:grpSpPr>
          <p:pic>
            <p:nvPicPr>
              <p:cNvPr id="70" name="图片 6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55693" y="5512581"/>
                <a:ext cx="725213" cy="380704"/>
              </a:xfrm>
              <a:prstGeom prst="rect">
                <a:avLst/>
              </a:prstGeom>
            </p:spPr>
          </p:pic>
          <p:pic>
            <p:nvPicPr>
              <p:cNvPr id="76" name="图片 75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72602" y="5512581"/>
                <a:ext cx="720991" cy="378488"/>
              </a:xfrm>
              <a:prstGeom prst="rect">
                <a:avLst/>
              </a:prstGeom>
            </p:spPr>
          </p:pic>
          <p:pic>
            <p:nvPicPr>
              <p:cNvPr id="77" name="图片 7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17010" y="5512581"/>
                <a:ext cx="702523" cy="368793"/>
              </a:xfrm>
              <a:prstGeom prst="rect">
                <a:avLst/>
              </a:prstGeom>
            </p:spPr>
          </p:pic>
          <p:pic>
            <p:nvPicPr>
              <p:cNvPr id="78" name="图片 77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03622" y="5512581"/>
                <a:ext cx="702807" cy="368942"/>
              </a:xfrm>
              <a:prstGeom prst="rect">
                <a:avLst/>
              </a:prstGeom>
            </p:spPr>
          </p:pic>
          <p:pic>
            <p:nvPicPr>
              <p:cNvPr id="79" name="图片 78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23992" y="5512581"/>
                <a:ext cx="650764" cy="34162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2238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自定义 14">
      <a:dk1>
        <a:sysClr val="windowText" lastClr="000000"/>
      </a:dk1>
      <a:lt1>
        <a:sysClr val="window" lastClr="FFFFFF"/>
      </a:lt1>
      <a:dk2>
        <a:srgbClr val="014C83"/>
      </a:dk2>
      <a:lt2>
        <a:srgbClr val="EEECE1"/>
      </a:lt2>
      <a:accent1>
        <a:srgbClr val="014C8D"/>
      </a:accent1>
      <a:accent2>
        <a:srgbClr val="012E57"/>
      </a:accent2>
      <a:accent3>
        <a:srgbClr val="24673E"/>
      </a:accent3>
      <a:accent4>
        <a:srgbClr val="3371A4"/>
      </a:accent4>
      <a:accent5>
        <a:srgbClr val="4BACC6"/>
      </a:accent5>
      <a:accent6>
        <a:srgbClr val="7FA6C7"/>
      </a:accent6>
      <a:hlink>
        <a:srgbClr val="0000FF"/>
      </a:hlink>
      <a:folHlink>
        <a:srgbClr val="CDDBE8"/>
      </a:folHlink>
    </a:clrScheme>
    <a:fontScheme name="微软雅黑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14996</TotalTime>
  <Words>740</Words>
  <Application>Microsoft Office PowerPoint</Application>
  <PresentationFormat>自定义</PresentationFormat>
  <Paragraphs>158</Paragraphs>
  <Slides>14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黑体</vt:lpstr>
      <vt:lpstr>宋体</vt:lpstr>
      <vt:lpstr>微软雅黑</vt:lpstr>
      <vt:lpstr>Arial</vt:lpstr>
      <vt:lpstr>Calibri</vt:lpstr>
      <vt:lpstr>Franklin Gothic Medium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wangjing</dc:creator>
  <cp:lastModifiedBy>jjc</cp:lastModifiedBy>
  <cp:revision>1023</cp:revision>
  <dcterms:created xsi:type="dcterms:W3CDTF">2011-06-03T14:53:06Z</dcterms:created>
  <dcterms:modified xsi:type="dcterms:W3CDTF">2026-09-23T05:46:43Z</dcterms:modified>
</cp:coreProperties>
</file>